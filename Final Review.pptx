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20"/>
  </p:notesMasterIdLst>
  <p:sldIdLst>
    <p:sldId id="256" r:id="rId2"/>
    <p:sldId id="257" r:id="rId3"/>
    <p:sldId id="258" r:id="rId4"/>
    <p:sldId id="259" r:id="rId5"/>
    <p:sldId id="275" r:id="rId6"/>
    <p:sldId id="261" r:id="rId7"/>
    <p:sldId id="262" r:id="rId8"/>
    <p:sldId id="266" r:id="rId9"/>
    <p:sldId id="267" r:id="rId10"/>
    <p:sldId id="264" r:id="rId11"/>
    <p:sldId id="274" r:id="rId12"/>
    <p:sldId id="276" r:id="rId13"/>
    <p:sldId id="263" r:id="rId14"/>
    <p:sldId id="268" r:id="rId15"/>
    <p:sldId id="271" r:id="rId16"/>
    <p:sldId id="269" r:id="rId17"/>
    <p:sldId id="270" r:id="rId18"/>
    <p:sldId id="273" r:id="rId1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5" roundtripDataSignature="AMtx7miKUJsOu7x27jMFcwx8UZ5rH+hZ3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5153FF6-6137-453F-A83A-1950DAA5D1D3}">
  <a:tblStyle styleId="{85153FF6-6137-453F-A83A-1950DAA5D1D3}"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FF7"/>
          </a:solidFill>
        </a:fill>
      </a:tcStyle>
    </a:wholeTbl>
    <a:band1H>
      <a:tcTxStyle/>
      <a:tcStyle>
        <a:tcBdr/>
        <a:fill>
          <a:solidFill>
            <a:srgbClr val="D0DEEF"/>
          </a:solidFill>
        </a:fill>
      </a:tcStyle>
    </a:band1H>
    <a:band2H>
      <a:tcTxStyle/>
      <a:tcStyle>
        <a:tcBdr/>
      </a:tcStyle>
    </a:band2H>
    <a:band1V>
      <a:tcTxStyle/>
      <a:tcStyle>
        <a:tcBdr/>
        <a:fill>
          <a:solidFill>
            <a:srgbClr val="D0DEEF"/>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712" autoAdjust="0"/>
    <p:restoredTop sz="94660"/>
  </p:normalViewPr>
  <p:slideViewPr>
    <p:cSldViewPr snapToGrid="0">
      <p:cViewPr varScale="1">
        <p:scale>
          <a:sx n="83" d="100"/>
          <a:sy n="83" d="100"/>
        </p:scale>
        <p:origin x="144" y="3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customschemas.google.com/relationships/presentationmetadata" Target="meta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 name="Google Shape;98;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 name="Google Shape;99;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 name="Google Shape;110;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1" name="Google Shape;111;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2" name="Google Shape;122;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CD436EE8-3650-21E6-A535-BFD4C5D48AF3}"/>
            </a:ext>
          </a:extLst>
        </p:cNvPr>
        <p:cNvGrpSpPr/>
        <p:nvPr/>
      </p:nvGrpSpPr>
      <p:grpSpPr>
        <a:xfrm>
          <a:off x="0" y="0"/>
          <a:ext cx="0" cy="0"/>
          <a:chOff x="0" y="0"/>
          <a:chExt cx="0" cy="0"/>
        </a:xfrm>
      </p:grpSpPr>
      <p:sp>
        <p:nvSpPr>
          <p:cNvPr id="109" name="Google Shape;109;p3:notes">
            <a:extLst>
              <a:ext uri="{FF2B5EF4-FFF2-40B4-BE49-F238E27FC236}">
                <a16:creationId xmlns:a16="http://schemas.microsoft.com/office/drawing/2014/main" id="{556E039C-97C6-6E1B-CA4A-45B42454E69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 name="Google Shape;110;p3:notes">
            <a:extLst>
              <a:ext uri="{FF2B5EF4-FFF2-40B4-BE49-F238E27FC236}">
                <a16:creationId xmlns:a16="http://schemas.microsoft.com/office/drawing/2014/main" id="{7D51F215-2C5E-CD54-AF0C-5BA48D697F9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1" name="Google Shape;111;p3:notes">
            <a:extLst>
              <a:ext uri="{FF2B5EF4-FFF2-40B4-BE49-F238E27FC236}">
                <a16:creationId xmlns:a16="http://schemas.microsoft.com/office/drawing/2014/main" id="{834E139B-E588-4679-B264-CB7662AE86C8}"/>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extLst>
      <p:ext uri="{BB962C8B-B14F-4D97-AF65-F5344CB8AC3E}">
        <p14:creationId xmlns:p14="http://schemas.microsoft.com/office/powerpoint/2010/main" val="16203067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7" name="Google Shape;147;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8" name="Google Shape;148;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8" name="Google Shape;158;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9" name="Google Shape;159;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0" name="Google Shape;220;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1" name="Google Shape;221;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1" name="Google Shape;231;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2" name="Google Shape;232;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9" name="Google Shape;189;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0" name="Google Shape;190;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a:extLst>
            <a:ext uri="{FF2B5EF4-FFF2-40B4-BE49-F238E27FC236}">
              <a16:creationId xmlns:a16="http://schemas.microsoft.com/office/drawing/2014/main" id="{B8D94700-B2DE-E4E6-36BA-2B1B19112343}"/>
            </a:ext>
          </a:extLst>
        </p:cNvPr>
        <p:cNvGrpSpPr/>
        <p:nvPr/>
      </p:nvGrpSpPr>
      <p:grpSpPr>
        <a:xfrm>
          <a:off x="0" y="0"/>
          <a:ext cx="0" cy="0"/>
          <a:chOff x="0" y="0"/>
          <a:chExt cx="0" cy="0"/>
        </a:xfrm>
      </p:grpSpPr>
      <p:sp>
        <p:nvSpPr>
          <p:cNvPr id="188" name="Google Shape;188;p9:notes">
            <a:extLst>
              <a:ext uri="{FF2B5EF4-FFF2-40B4-BE49-F238E27FC236}">
                <a16:creationId xmlns:a16="http://schemas.microsoft.com/office/drawing/2014/main" id="{34FC8D83-E2F5-E14D-7E22-D6FFB342EC3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9" name="Google Shape;189;p9:notes">
            <a:extLst>
              <a:ext uri="{FF2B5EF4-FFF2-40B4-BE49-F238E27FC236}">
                <a16:creationId xmlns:a16="http://schemas.microsoft.com/office/drawing/2014/main" id="{3AB45AA1-8876-0E3C-AA32-3E66526CE85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0" name="Google Shape;190;p9:notes">
            <a:extLst>
              <a:ext uri="{FF2B5EF4-FFF2-40B4-BE49-F238E27FC236}">
                <a16:creationId xmlns:a16="http://schemas.microsoft.com/office/drawing/2014/main" id="{03E435CE-B3BA-1F2B-908F-07386486EF93}"/>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37726133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1" name="Google Shape;171;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2" name="Google Shape;172;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3" name="Google Shape;243;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4" name="Google Shape;244;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6" name="Google Shape;276;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7" name="Google Shape;277;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4" name="Google Shape;254;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5" name="Google Shape;255;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5" name="Google Shape;265;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6" name="Google Shape;266;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8" name="Google Shape;298;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9" name="Google Shape;299;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0"/>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Arial"/>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0"/>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2"/>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Arial"/>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22"/>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23"/>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23"/>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24"/>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24"/>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24"/>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24"/>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24"/>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2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27"/>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27"/>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2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28"/>
          <p:cNvSpPr>
            <a:spLocks noGrp="1"/>
          </p:cNvSpPr>
          <p:nvPr>
            <p:ph type="pic" idx="2"/>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dk1"/>
              </a:buClr>
              <a:buSzPts val="3200"/>
              <a:buFont typeface="Arial"/>
              <a:buNone/>
              <a:defRPr sz="3200" b="0" i="0" u="none" strike="noStrike" cap="none">
                <a:solidFill>
                  <a:schemeClr val="dk1"/>
                </a:solidFill>
                <a:latin typeface="Arial"/>
                <a:ea typeface="Arial"/>
                <a:cs typeface="Arial"/>
                <a:sym typeface="Arial"/>
              </a:defRPr>
            </a:lvl1pPr>
            <a:lvl2pPr marR="0" lvl="1" algn="l" rtl="0">
              <a:lnSpc>
                <a:spcPct val="90000"/>
              </a:lnSpc>
              <a:spcBef>
                <a:spcPts val="50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3pPr>
            <a:lvl4pPr marR="0" lvl="3"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4pPr>
            <a:lvl5pPr marR="0" lvl="4"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5pPr>
            <a:lvl6pPr marR="0" lvl="5"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6pPr>
            <a:lvl7pPr marR="0" lvl="6"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7pPr>
            <a:lvl8pPr marR="0" lvl="7"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8pPr>
            <a:lvl9pPr marR="0" lvl="8"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9pPr>
          </a:lstStyle>
          <a:p>
            <a:endParaRPr/>
          </a:p>
        </p:txBody>
      </p:sp>
      <p:sp>
        <p:nvSpPr>
          <p:cNvPr id="68" name="Google Shape;68;p28"/>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2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29"/>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30"/>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30"/>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3;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 name="Google Shape;14;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Arial"/>
                <a:ea typeface="Arial"/>
                <a:cs typeface="Arial"/>
                <a:sym typeface="Arial"/>
              </a:defRPr>
            </a:lvl1pPr>
            <a:lvl2pPr marL="0" marR="0" lvl="1" indent="0" algn="r" rtl="0">
              <a:spcBef>
                <a:spcPts val="0"/>
              </a:spcBef>
              <a:buNone/>
              <a:defRPr sz="1200" b="0" i="0" u="none" strike="noStrike" cap="none">
                <a:solidFill>
                  <a:srgbClr val="888888"/>
                </a:solidFill>
                <a:latin typeface="Arial"/>
                <a:ea typeface="Arial"/>
                <a:cs typeface="Arial"/>
                <a:sym typeface="Arial"/>
              </a:defRPr>
            </a:lvl2pPr>
            <a:lvl3pPr marL="0" marR="0" lvl="2" indent="0" algn="r" rtl="0">
              <a:spcBef>
                <a:spcPts val="0"/>
              </a:spcBef>
              <a:buNone/>
              <a:defRPr sz="1200" b="0" i="0" u="none" strike="noStrike" cap="none">
                <a:solidFill>
                  <a:srgbClr val="888888"/>
                </a:solidFill>
                <a:latin typeface="Arial"/>
                <a:ea typeface="Arial"/>
                <a:cs typeface="Arial"/>
                <a:sym typeface="Arial"/>
              </a:defRPr>
            </a:lvl3pPr>
            <a:lvl4pPr marL="0" marR="0" lvl="3" indent="0" algn="r" rtl="0">
              <a:spcBef>
                <a:spcPts val="0"/>
              </a:spcBef>
              <a:buNone/>
              <a:defRPr sz="1200" b="0" i="0" u="none" strike="noStrike" cap="none">
                <a:solidFill>
                  <a:srgbClr val="888888"/>
                </a:solidFill>
                <a:latin typeface="Arial"/>
                <a:ea typeface="Arial"/>
                <a:cs typeface="Arial"/>
                <a:sym typeface="Arial"/>
              </a:defRPr>
            </a:lvl4pPr>
            <a:lvl5pPr marL="0" marR="0" lvl="4" indent="0" algn="r" rtl="0">
              <a:spcBef>
                <a:spcPts val="0"/>
              </a:spcBef>
              <a:buNone/>
              <a:defRPr sz="1200" b="0" i="0" u="none" strike="noStrike" cap="none">
                <a:solidFill>
                  <a:srgbClr val="888888"/>
                </a:solidFill>
                <a:latin typeface="Arial"/>
                <a:ea typeface="Arial"/>
                <a:cs typeface="Arial"/>
                <a:sym typeface="Arial"/>
              </a:defRPr>
            </a:lvl5pPr>
            <a:lvl6pPr marL="0" marR="0" lvl="5" indent="0" algn="r" rtl="0">
              <a:spcBef>
                <a:spcPts val="0"/>
              </a:spcBef>
              <a:buNone/>
              <a:defRPr sz="1200" b="0" i="0" u="none" strike="noStrike" cap="none">
                <a:solidFill>
                  <a:srgbClr val="888888"/>
                </a:solidFill>
                <a:latin typeface="Arial"/>
                <a:ea typeface="Arial"/>
                <a:cs typeface="Arial"/>
                <a:sym typeface="Arial"/>
              </a:defRPr>
            </a:lvl6pPr>
            <a:lvl7pPr marL="0" marR="0" lvl="6" indent="0" algn="r" rtl="0">
              <a:spcBef>
                <a:spcPts val="0"/>
              </a:spcBef>
              <a:buNone/>
              <a:defRPr sz="1200" b="0" i="0" u="none" strike="noStrike" cap="none">
                <a:solidFill>
                  <a:srgbClr val="888888"/>
                </a:solidFill>
                <a:latin typeface="Arial"/>
                <a:ea typeface="Arial"/>
                <a:cs typeface="Arial"/>
                <a:sym typeface="Arial"/>
              </a:defRPr>
            </a:lvl7pPr>
            <a:lvl8pPr marL="0" marR="0" lvl="7" indent="0" algn="r" rtl="0">
              <a:spcBef>
                <a:spcPts val="0"/>
              </a:spcBef>
              <a:buNone/>
              <a:defRPr sz="1200" b="0" i="0" u="none" strike="noStrike" cap="none">
                <a:solidFill>
                  <a:srgbClr val="888888"/>
                </a:solidFill>
                <a:latin typeface="Arial"/>
                <a:ea typeface="Arial"/>
                <a:cs typeface="Arial"/>
                <a:sym typeface="Arial"/>
              </a:defRPr>
            </a:lvl8pPr>
            <a:lvl9pPr marL="0" marR="0" lvl="8" indent="0" algn="r" rtl="0">
              <a:spcBef>
                <a:spcPts val="0"/>
              </a:spcBef>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13.jpeg"/><Relationship Id="rId3" Type="http://schemas.openxmlformats.org/officeDocument/2006/relationships/image" Target="../media/image1.jpg"/><Relationship Id="rId7" Type="http://schemas.openxmlformats.org/officeDocument/2006/relationships/image" Target="../media/image12.jpe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1.jpeg"/><Relationship Id="rId5" Type="http://schemas.openxmlformats.org/officeDocument/2006/relationships/image" Target="../media/image10.jpeg"/><Relationship Id="rId4" Type="http://schemas.openxmlformats.org/officeDocument/2006/relationships/image" Target="../media/image9.jpeg"/><Relationship Id="rId9" Type="http://schemas.openxmlformats.org/officeDocument/2006/relationships/image" Target="../media/image14.jpeg"/></Relationships>
</file>

<file path=ppt/slides/_rels/slide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
          <p:cNvSpPr/>
          <p:nvPr/>
        </p:nvSpPr>
        <p:spPr>
          <a:xfrm>
            <a:off x="11320530" y="141668"/>
            <a:ext cx="643943" cy="6362163"/>
          </a:xfrm>
          <a:prstGeom prst="rect">
            <a:avLst/>
          </a:prstGeom>
          <a:solidFill>
            <a:srgbClr val="FF0000"/>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pic>
        <p:nvPicPr>
          <p:cNvPr id="90" name="Google Shape;90;p1"/>
          <p:cNvPicPr preferRelativeResize="0"/>
          <p:nvPr/>
        </p:nvPicPr>
        <p:blipFill rotWithShape="1">
          <a:blip r:embed="rId3">
            <a:alphaModFix/>
          </a:blip>
          <a:srcRect/>
          <a:stretch/>
        </p:blipFill>
        <p:spPr>
          <a:xfrm>
            <a:off x="10299700" y="291370"/>
            <a:ext cx="892040" cy="892040"/>
          </a:xfrm>
          <a:prstGeom prst="rect">
            <a:avLst/>
          </a:prstGeom>
          <a:noFill/>
          <a:ln>
            <a:noFill/>
          </a:ln>
        </p:spPr>
      </p:pic>
      <p:sp>
        <p:nvSpPr>
          <p:cNvPr id="91" name="Google Shape;91;p1"/>
          <p:cNvSpPr/>
          <p:nvPr/>
        </p:nvSpPr>
        <p:spPr>
          <a:xfrm>
            <a:off x="1" y="6337782"/>
            <a:ext cx="4729316" cy="520217"/>
          </a:xfrm>
          <a:prstGeom prst="rect">
            <a:avLst/>
          </a:prstGeom>
          <a:solidFill>
            <a:srgbClr val="2E75B5"/>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i="0" u="none" strike="noStrike" cap="none">
                <a:solidFill>
                  <a:schemeClr val="lt1"/>
                </a:solidFill>
                <a:latin typeface="Arial"/>
                <a:ea typeface="Arial"/>
                <a:cs typeface="Arial"/>
                <a:sym typeface="Arial"/>
              </a:rPr>
              <a:t>Saintgits College of Engineering (Autonomous)</a:t>
            </a:r>
            <a:endParaRPr sz="1800" b="1" i="0" u="none" strike="noStrike" cap="none">
              <a:solidFill>
                <a:schemeClr val="lt1"/>
              </a:solidFill>
              <a:latin typeface="Arial"/>
              <a:ea typeface="Arial"/>
              <a:cs typeface="Arial"/>
              <a:sym typeface="Arial"/>
            </a:endParaRPr>
          </a:p>
        </p:txBody>
      </p:sp>
      <p:sp>
        <p:nvSpPr>
          <p:cNvPr id="93" name="Google Shape;93;p1"/>
          <p:cNvSpPr txBox="1">
            <a:spLocks noGrp="1"/>
          </p:cNvSpPr>
          <p:nvPr>
            <p:ph type="subTitle" idx="1"/>
          </p:nvPr>
        </p:nvSpPr>
        <p:spPr>
          <a:xfrm>
            <a:off x="227527" y="1322717"/>
            <a:ext cx="10629362" cy="178226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rgbClr val="FF0000"/>
              </a:buClr>
              <a:buSzPts val="4800"/>
              <a:buNone/>
            </a:pPr>
            <a:r>
              <a:rPr lang="en-US" sz="4800" b="1" dirty="0">
                <a:solidFill>
                  <a:srgbClr val="FF0000"/>
                </a:solidFill>
              </a:rPr>
              <a:t>NON-INVASIVE ANEMIA DETECTOR</a:t>
            </a:r>
            <a:endParaRPr sz="4800" b="1" dirty="0">
              <a:solidFill>
                <a:srgbClr val="FF0000"/>
              </a:solidFill>
            </a:endParaRPr>
          </a:p>
        </p:txBody>
      </p:sp>
      <p:sp>
        <p:nvSpPr>
          <p:cNvPr id="94" name="Google Shape;94;p1"/>
          <p:cNvSpPr/>
          <p:nvPr/>
        </p:nvSpPr>
        <p:spPr>
          <a:xfrm>
            <a:off x="457889" y="4134054"/>
            <a:ext cx="6138443" cy="92328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i="0" u="none" strike="noStrike" cap="none" dirty="0">
                <a:solidFill>
                  <a:schemeClr val="dk1"/>
                </a:solidFill>
                <a:latin typeface="Arial"/>
                <a:ea typeface="Arial"/>
                <a:cs typeface="Arial"/>
                <a:sym typeface="Arial"/>
              </a:rPr>
              <a:t>Project In Charge</a:t>
            </a:r>
            <a:r>
              <a:rPr lang="en-US" sz="1800" b="0" i="0" u="none" strike="noStrike" cap="none" dirty="0">
                <a:solidFill>
                  <a:schemeClr val="dk1"/>
                </a:solidFill>
                <a:latin typeface="Arial"/>
                <a:ea typeface="Arial"/>
                <a:cs typeface="Arial"/>
                <a:sym typeface="Arial"/>
              </a:rPr>
              <a:t>: Er. Anish Thomas (Asst Prof.)</a:t>
            </a:r>
            <a:endParaRPr sz="1800" dirty="0">
              <a:solidFill>
                <a:schemeClr val="dk1"/>
              </a:solidFill>
              <a:latin typeface="Arial"/>
              <a:ea typeface="Arial"/>
              <a:cs typeface="Arial"/>
              <a:sym typeface="Arial"/>
            </a:endParaRPr>
          </a:p>
          <a:p>
            <a:pPr marL="0" marR="0" lvl="0" indent="0" algn="l" rtl="0">
              <a:spcBef>
                <a:spcPts val="0"/>
              </a:spcBef>
              <a:spcAft>
                <a:spcPts val="0"/>
              </a:spcAft>
              <a:buNone/>
            </a:pPr>
            <a:r>
              <a:rPr lang="en-US" sz="1800" b="1" dirty="0">
                <a:solidFill>
                  <a:schemeClr val="dk1"/>
                </a:solidFill>
                <a:latin typeface="Arial"/>
                <a:ea typeface="Arial"/>
                <a:cs typeface="Arial"/>
                <a:sym typeface="Arial"/>
              </a:rPr>
              <a:t>Project Guide</a:t>
            </a:r>
            <a:r>
              <a:rPr lang="en-US" sz="1800" dirty="0">
                <a:solidFill>
                  <a:schemeClr val="dk1"/>
                </a:solidFill>
                <a:latin typeface="Arial"/>
                <a:ea typeface="Arial"/>
                <a:cs typeface="Arial"/>
                <a:sym typeface="Arial"/>
              </a:rPr>
              <a:t>	 : Er. </a:t>
            </a:r>
            <a:r>
              <a:rPr lang="en-US" sz="1800" dirty="0">
                <a:solidFill>
                  <a:schemeClr val="dk1"/>
                </a:solidFill>
              </a:rPr>
              <a:t>Jyothish Chandran G </a:t>
            </a:r>
            <a:r>
              <a:rPr lang="en-US" sz="1800" dirty="0">
                <a:solidFill>
                  <a:schemeClr val="dk1"/>
                </a:solidFill>
                <a:latin typeface="Arial"/>
                <a:ea typeface="Arial"/>
                <a:cs typeface="Arial"/>
                <a:sym typeface="Arial"/>
              </a:rPr>
              <a:t>(Asst Prof.)</a:t>
            </a:r>
            <a:endParaRPr dirty="0"/>
          </a:p>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95" name="Google Shape;95;p1"/>
          <p:cNvSpPr/>
          <p:nvPr/>
        </p:nvSpPr>
        <p:spPr>
          <a:xfrm>
            <a:off x="7203446" y="4013284"/>
            <a:ext cx="4988554" cy="1892785"/>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1800" b="1" dirty="0">
                <a:solidFill>
                  <a:schemeClr val="dk1"/>
                </a:solidFill>
                <a:latin typeface="Arial"/>
                <a:ea typeface="Arial"/>
                <a:cs typeface="Arial"/>
                <a:sym typeface="Arial"/>
              </a:rPr>
              <a:t>Presented By</a:t>
            </a:r>
            <a:r>
              <a:rPr lang="en-US" sz="1800" dirty="0">
                <a:solidFill>
                  <a:schemeClr val="dk1"/>
                </a:solidFill>
                <a:latin typeface="Arial"/>
                <a:ea typeface="Arial"/>
                <a:cs typeface="Arial"/>
                <a:sym typeface="Arial"/>
              </a:rPr>
              <a:t>: </a:t>
            </a:r>
            <a:endParaRPr lang="en-US" sz="1800" dirty="0">
              <a:solidFill>
                <a:schemeClr val="dk1"/>
              </a:solidFill>
            </a:endParaRPr>
          </a:p>
          <a:p>
            <a:pPr marL="0" marR="0" lvl="0" indent="0" algn="l" rtl="0">
              <a:spcBef>
                <a:spcPts val="0"/>
              </a:spcBef>
              <a:spcAft>
                <a:spcPts val="0"/>
              </a:spcAft>
              <a:buNone/>
            </a:pPr>
            <a:r>
              <a:rPr lang="en-US" sz="1800" dirty="0">
                <a:solidFill>
                  <a:schemeClr val="dk1"/>
                </a:solidFill>
              </a:rPr>
              <a:t>Britty Siby(MGP23EC024)</a:t>
            </a:r>
          </a:p>
          <a:p>
            <a:pPr lvl="0"/>
            <a:r>
              <a:rPr lang="en-US" sz="1800" dirty="0">
                <a:solidFill>
                  <a:schemeClr val="dk1"/>
                </a:solidFill>
              </a:rPr>
              <a:t>Devika S (MGP23EC026)</a:t>
            </a:r>
          </a:p>
          <a:p>
            <a:pPr lvl="0"/>
            <a:r>
              <a:rPr lang="en-US" sz="1800" dirty="0">
                <a:solidFill>
                  <a:schemeClr val="dk1"/>
                </a:solidFill>
              </a:rPr>
              <a:t>Devika S Nair (MGP23EC027)</a:t>
            </a:r>
          </a:p>
          <a:p>
            <a:pPr lvl="0"/>
            <a:r>
              <a:rPr lang="en-US" sz="1800" dirty="0">
                <a:solidFill>
                  <a:schemeClr val="dk1"/>
                </a:solidFill>
              </a:rPr>
              <a:t>Swetha Anil(MGP23EC066)</a:t>
            </a:r>
            <a:endParaRPr lang="en-IN" dirty="0"/>
          </a:p>
          <a:p>
            <a:pPr marL="0" marR="0" lvl="0" indent="0" algn="l" rtl="0">
              <a:spcBef>
                <a:spcPts val="0"/>
              </a:spcBef>
              <a:spcAft>
                <a:spcPts val="0"/>
              </a:spcAft>
              <a:buNone/>
            </a:pPr>
            <a:r>
              <a:rPr lang="en-US" sz="1800" dirty="0">
                <a:solidFill>
                  <a:schemeClr val="dk1"/>
                </a:solidFill>
                <a:latin typeface="Arial"/>
                <a:ea typeface="Arial"/>
                <a:cs typeface="Arial"/>
                <a:sym typeface="Arial"/>
              </a:rPr>
              <a:t>	          </a:t>
            </a:r>
            <a:endParaRPr sz="1800" dirty="0">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2"/>
          <p:cNvSpPr/>
          <p:nvPr/>
        </p:nvSpPr>
        <p:spPr>
          <a:xfrm>
            <a:off x="11320530" y="141668"/>
            <a:ext cx="643943" cy="6362163"/>
          </a:xfrm>
          <a:prstGeom prst="rect">
            <a:avLst/>
          </a:prstGeom>
          <a:solidFill>
            <a:srgbClr val="FF0000"/>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102" name="Google Shape;102;p2"/>
          <p:cNvPicPr preferRelativeResize="0"/>
          <p:nvPr/>
        </p:nvPicPr>
        <p:blipFill rotWithShape="1">
          <a:blip r:embed="rId3">
            <a:alphaModFix/>
          </a:blip>
          <a:srcRect/>
          <a:stretch/>
        </p:blipFill>
        <p:spPr>
          <a:xfrm>
            <a:off x="10299700" y="291370"/>
            <a:ext cx="892040" cy="892040"/>
          </a:xfrm>
          <a:prstGeom prst="rect">
            <a:avLst/>
          </a:prstGeom>
          <a:noFill/>
          <a:ln>
            <a:noFill/>
          </a:ln>
        </p:spPr>
      </p:pic>
      <p:sp>
        <p:nvSpPr>
          <p:cNvPr id="103" name="Google Shape;103;p2"/>
          <p:cNvSpPr/>
          <p:nvPr/>
        </p:nvSpPr>
        <p:spPr>
          <a:xfrm>
            <a:off x="0" y="6356350"/>
            <a:ext cx="4689987" cy="501650"/>
          </a:xfrm>
          <a:prstGeom prst="rect">
            <a:avLst/>
          </a:prstGeom>
          <a:solidFill>
            <a:srgbClr val="2E75B5"/>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dirty="0" err="1">
                <a:solidFill>
                  <a:schemeClr val="lt1"/>
                </a:solidFill>
                <a:latin typeface="Arial"/>
                <a:ea typeface="Arial"/>
                <a:cs typeface="Arial"/>
                <a:sym typeface="Arial"/>
              </a:rPr>
              <a:t>Saintgits</a:t>
            </a:r>
            <a:r>
              <a:rPr lang="en-US" sz="1800" b="1" dirty="0">
                <a:solidFill>
                  <a:schemeClr val="lt1"/>
                </a:solidFill>
                <a:latin typeface="Arial"/>
                <a:ea typeface="Arial"/>
                <a:cs typeface="Arial"/>
                <a:sym typeface="Arial"/>
              </a:rPr>
              <a:t> College of Engineering (Autonomous)</a:t>
            </a:r>
            <a:endParaRPr sz="1800" b="1" dirty="0">
              <a:solidFill>
                <a:schemeClr val="lt1"/>
              </a:solidFill>
              <a:latin typeface="Arial"/>
              <a:ea typeface="Arial"/>
              <a:cs typeface="Arial"/>
              <a:sym typeface="Arial"/>
            </a:endParaRPr>
          </a:p>
        </p:txBody>
      </p:sp>
      <p:sp>
        <p:nvSpPr>
          <p:cNvPr id="104" name="Google Shape;104;p2"/>
          <p:cNvSpPr txBox="1"/>
          <p:nvPr/>
        </p:nvSpPr>
        <p:spPr>
          <a:xfrm>
            <a:off x="3680099" y="2658122"/>
            <a:ext cx="7245477" cy="1297036"/>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sz="5400" b="1">
              <a:solidFill>
                <a:srgbClr val="2E75B5"/>
              </a:solidFill>
              <a:latin typeface="Arial"/>
              <a:ea typeface="Arial"/>
              <a:cs typeface="Arial"/>
              <a:sym typeface="Arial"/>
            </a:endParaRPr>
          </a:p>
        </p:txBody>
      </p:sp>
      <p:sp>
        <p:nvSpPr>
          <p:cNvPr id="105" name="Google Shape;105;p2"/>
          <p:cNvSpPr txBox="1">
            <a:spLocks noGrp="1"/>
          </p:cNvSpPr>
          <p:nvPr>
            <p:ph type="title"/>
          </p:nvPr>
        </p:nvSpPr>
        <p:spPr>
          <a:xfrm>
            <a:off x="140110" y="226557"/>
            <a:ext cx="10515600" cy="736737"/>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Arial"/>
              <a:buNone/>
            </a:pPr>
            <a:r>
              <a:rPr lang="en-US" sz="4000" b="1" u="sng" dirty="0"/>
              <a:t>CONTENTS</a:t>
            </a:r>
            <a:endParaRPr sz="4000" b="1" u="sng" dirty="0"/>
          </a:p>
        </p:txBody>
      </p:sp>
      <p:sp>
        <p:nvSpPr>
          <p:cNvPr id="106" name="Google Shape;106;p2"/>
          <p:cNvSpPr txBox="1">
            <a:spLocks noGrp="1"/>
          </p:cNvSpPr>
          <p:nvPr>
            <p:ph type="body" idx="1"/>
          </p:nvPr>
        </p:nvSpPr>
        <p:spPr>
          <a:xfrm>
            <a:off x="910553" y="879337"/>
            <a:ext cx="8974714" cy="5371937"/>
          </a:xfrm>
          <a:prstGeom prst="rect">
            <a:avLst/>
          </a:prstGeom>
          <a:noFill/>
          <a:ln>
            <a:noFill/>
          </a:ln>
        </p:spPr>
        <p:txBody>
          <a:bodyPr spcFirstLastPara="1" wrap="square" lIns="91425" tIns="45700" rIns="91425" bIns="45700" anchor="t" anchorCtr="0">
            <a:noAutofit/>
          </a:bodyPr>
          <a:lstStyle/>
          <a:p>
            <a:pPr marL="540000" indent="-288000">
              <a:lnSpc>
                <a:spcPct val="100000"/>
              </a:lnSpc>
              <a:spcBef>
                <a:spcPts val="600"/>
              </a:spcBef>
              <a:buFont typeface="Wingdings" panose="05000000000000000000" pitchFamily="2" charset="2"/>
              <a:buChar char="q"/>
            </a:pPr>
            <a:r>
              <a:rPr lang="en-US" sz="1800" dirty="0"/>
              <a:t>Introduction</a:t>
            </a:r>
          </a:p>
          <a:p>
            <a:pPr marL="540000" indent="-288000">
              <a:lnSpc>
                <a:spcPct val="100000"/>
              </a:lnSpc>
              <a:spcBef>
                <a:spcPts val="600"/>
              </a:spcBef>
              <a:buFont typeface="Wingdings" panose="05000000000000000000" pitchFamily="2" charset="2"/>
              <a:buChar char="q"/>
            </a:pPr>
            <a:r>
              <a:rPr lang="en-US" sz="1800" dirty="0"/>
              <a:t>Initial Scope of Work</a:t>
            </a:r>
          </a:p>
          <a:p>
            <a:pPr marL="540000" indent="-288000">
              <a:lnSpc>
                <a:spcPct val="100000"/>
              </a:lnSpc>
              <a:spcBef>
                <a:spcPts val="600"/>
              </a:spcBef>
              <a:buFont typeface="Wingdings" panose="05000000000000000000" pitchFamily="2" charset="2"/>
              <a:buChar char="q"/>
            </a:pPr>
            <a:r>
              <a:rPr lang="en-US" sz="1800" dirty="0"/>
              <a:t>Changes in plan</a:t>
            </a:r>
          </a:p>
          <a:p>
            <a:pPr marL="540000" indent="-288000">
              <a:lnSpc>
                <a:spcPct val="100000"/>
              </a:lnSpc>
              <a:spcBef>
                <a:spcPts val="600"/>
              </a:spcBef>
              <a:buFont typeface="Wingdings" panose="05000000000000000000" pitchFamily="2" charset="2"/>
              <a:buChar char="q"/>
            </a:pPr>
            <a:r>
              <a:rPr lang="en-US" sz="1800" dirty="0"/>
              <a:t>Literature Survey</a:t>
            </a:r>
          </a:p>
          <a:p>
            <a:pPr marL="540000" indent="-288000">
              <a:lnSpc>
                <a:spcPct val="100000"/>
              </a:lnSpc>
              <a:spcBef>
                <a:spcPts val="600"/>
              </a:spcBef>
              <a:buFont typeface="Wingdings" panose="05000000000000000000" pitchFamily="2" charset="2"/>
              <a:buChar char="q"/>
            </a:pPr>
            <a:r>
              <a:rPr lang="en-US" sz="1800" dirty="0"/>
              <a:t>Hardware Components</a:t>
            </a:r>
          </a:p>
          <a:p>
            <a:pPr marL="540000" indent="-288000">
              <a:lnSpc>
                <a:spcPct val="100000"/>
              </a:lnSpc>
              <a:spcBef>
                <a:spcPts val="600"/>
              </a:spcBef>
              <a:buFont typeface="Wingdings" panose="05000000000000000000" pitchFamily="2" charset="2"/>
              <a:buChar char="q"/>
            </a:pPr>
            <a:r>
              <a:rPr lang="en-US" sz="1800" dirty="0"/>
              <a:t>Block Diagram</a:t>
            </a:r>
          </a:p>
          <a:p>
            <a:pPr marL="540000" indent="-288000">
              <a:lnSpc>
                <a:spcPct val="100000"/>
              </a:lnSpc>
              <a:spcBef>
                <a:spcPts val="600"/>
              </a:spcBef>
              <a:buFont typeface="Wingdings" panose="05000000000000000000" pitchFamily="2" charset="2"/>
              <a:buChar char="q"/>
            </a:pPr>
            <a:r>
              <a:rPr lang="en-US" sz="1800" dirty="0"/>
              <a:t>Working Principle</a:t>
            </a:r>
          </a:p>
          <a:p>
            <a:pPr marL="540000" indent="-288000">
              <a:lnSpc>
                <a:spcPct val="100000"/>
              </a:lnSpc>
              <a:spcBef>
                <a:spcPts val="600"/>
              </a:spcBef>
              <a:buFont typeface="Wingdings" panose="05000000000000000000" pitchFamily="2" charset="2"/>
              <a:buChar char="q"/>
            </a:pPr>
            <a:r>
              <a:rPr lang="en-US" sz="1800" dirty="0"/>
              <a:t>Algorithm</a:t>
            </a:r>
          </a:p>
          <a:p>
            <a:pPr marL="540000" indent="-288000">
              <a:lnSpc>
                <a:spcPct val="100000"/>
              </a:lnSpc>
              <a:spcBef>
                <a:spcPts val="600"/>
              </a:spcBef>
              <a:buFont typeface="Wingdings" panose="05000000000000000000" pitchFamily="2" charset="2"/>
              <a:buChar char="q"/>
            </a:pPr>
            <a:r>
              <a:rPr lang="en-US" sz="1800" dirty="0"/>
              <a:t>Calibration graph</a:t>
            </a:r>
          </a:p>
          <a:p>
            <a:pPr marL="540000" indent="-288000">
              <a:lnSpc>
                <a:spcPct val="100000"/>
              </a:lnSpc>
              <a:spcBef>
                <a:spcPts val="600"/>
              </a:spcBef>
              <a:buFont typeface="Wingdings" panose="05000000000000000000" pitchFamily="2" charset="2"/>
              <a:buChar char="q"/>
            </a:pPr>
            <a:r>
              <a:rPr lang="en-US" sz="1800" dirty="0"/>
              <a:t>Results</a:t>
            </a:r>
          </a:p>
          <a:p>
            <a:pPr marL="540000" indent="-288000">
              <a:lnSpc>
                <a:spcPct val="100000"/>
              </a:lnSpc>
              <a:spcBef>
                <a:spcPts val="600"/>
              </a:spcBef>
              <a:buFont typeface="Wingdings" panose="05000000000000000000" pitchFamily="2" charset="2"/>
              <a:buChar char="q"/>
            </a:pPr>
            <a:r>
              <a:rPr lang="en-US" sz="1800" dirty="0"/>
              <a:t>Functional prototype</a:t>
            </a:r>
          </a:p>
          <a:p>
            <a:pPr marL="540000" indent="-288000">
              <a:lnSpc>
                <a:spcPct val="100000"/>
              </a:lnSpc>
              <a:spcBef>
                <a:spcPts val="600"/>
              </a:spcBef>
              <a:buFont typeface="Wingdings" panose="05000000000000000000" pitchFamily="2" charset="2"/>
              <a:buChar char="q"/>
            </a:pPr>
            <a:r>
              <a:rPr lang="en-US" sz="1800" dirty="0"/>
              <a:t>Future Scope</a:t>
            </a:r>
          </a:p>
          <a:p>
            <a:pPr marL="540000" indent="-288000">
              <a:lnSpc>
                <a:spcPct val="100000"/>
              </a:lnSpc>
              <a:spcBef>
                <a:spcPts val="600"/>
              </a:spcBef>
              <a:buFont typeface="Wingdings" panose="05000000000000000000" pitchFamily="2" charset="2"/>
              <a:buChar char="q"/>
            </a:pPr>
            <a:r>
              <a:rPr lang="en-US" sz="1800" dirty="0"/>
              <a:t>Acknowledgement</a:t>
            </a:r>
          </a:p>
          <a:p>
            <a:pPr marL="540000" indent="-288000">
              <a:lnSpc>
                <a:spcPct val="100000"/>
              </a:lnSpc>
              <a:spcBef>
                <a:spcPts val="600"/>
              </a:spcBef>
              <a:buFont typeface="Wingdings" panose="05000000000000000000" pitchFamily="2" charset="2"/>
              <a:buChar char="q"/>
            </a:pPr>
            <a:r>
              <a:rPr lang="en-US" sz="1800" dirty="0"/>
              <a:t>References</a:t>
            </a:r>
          </a:p>
          <a:p>
            <a:pPr marL="540000" indent="-288000">
              <a:lnSpc>
                <a:spcPct val="100000"/>
              </a:lnSpc>
              <a:spcBef>
                <a:spcPts val="600"/>
              </a:spcBef>
              <a:buFont typeface="Wingdings" panose="05000000000000000000" pitchFamily="2" charset="2"/>
              <a:buChar char="q"/>
            </a:pPr>
            <a:r>
              <a:rPr lang="en-US" sz="1800" dirty="0"/>
              <a:t>Conclusion</a:t>
            </a:r>
            <a:br>
              <a:rPr lang="en-US" sz="2000" dirty="0"/>
            </a:br>
            <a:endParaRPr sz="2000" dirty="0"/>
          </a:p>
        </p:txBody>
      </p:sp>
      <p:sp>
        <p:nvSpPr>
          <p:cNvPr id="107" name="Google Shape;107;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3"/>
          <p:cNvSpPr/>
          <p:nvPr/>
        </p:nvSpPr>
        <p:spPr>
          <a:xfrm>
            <a:off x="11320530" y="141668"/>
            <a:ext cx="643943" cy="6362163"/>
          </a:xfrm>
          <a:prstGeom prst="rect">
            <a:avLst/>
          </a:prstGeom>
          <a:solidFill>
            <a:srgbClr val="FF0000"/>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114" name="Google Shape;114;p3"/>
          <p:cNvPicPr preferRelativeResize="0"/>
          <p:nvPr/>
        </p:nvPicPr>
        <p:blipFill rotWithShape="1">
          <a:blip r:embed="rId3">
            <a:alphaModFix/>
          </a:blip>
          <a:srcRect/>
          <a:stretch/>
        </p:blipFill>
        <p:spPr>
          <a:xfrm>
            <a:off x="10299700" y="291370"/>
            <a:ext cx="892040" cy="892040"/>
          </a:xfrm>
          <a:prstGeom prst="rect">
            <a:avLst/>
          </a:prstGeom>
          <a:noFill/>
          <a:ln>
            <a:noFill/>
          </a:ln>
        </p:spPr>
      </p:pic>
      <p:sp>
        <p:nvSpPr>
          <p:cNvPr id="115" name="Google Shape;115;p3"/>
          <p:cNvSpPr/>
          <p:nvPr/>
        </p:nvSpPr>
        <p:spPr>
          <a:xfrm>
            <a:off x="-1" y="6367306"/>
            <a:ext cx="4729317" cy="490694"/>
          </a:xfrm>
          <a:prstGeom prst="rect">
            <a:avLst/>
          </a:prstGeom>
          <a:solidFill>
            <a:srgbClr val="2E75B5"/>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lt1"/>
                </a:solidFill>
                <a:latin typeface="Arial"/>
                <a:ea typeface="Arial"/>
                <a:cs typeface="Arial"/>
                <a:sym typeface="Arial"/>
              </a:rPr>
              <a:t>Saintgits College of Engineering (Autonomous)</a:t>
            </a:r>
            <a:endParaRPr sz="1800" b="1">
              <a:solidFill>
                <a:schemeClr val="lt1"/>
              </a:solidFill>
              <a:latin typeface="Arial"/>
              <a:ea typeface="Arial"/>
              <a:cs typeface="Arial"/>
              <a:sym typeface="Arial"/>
            </a:endParaRPr>
          </a:p>
        </p:txBody>
      </p:sp>
      <p:sp>
        <p:nvSpPr>
          <p:cNvPr id="116" name="Google Shape;116;p3"/>
          <p:cNvSpPr txBox="1"/>
          <p:nvPr/>
        </p:nvSpPr>
        <p:spPr>
          <a:xfrm>
            <a:off x="3680099" y="2658122"/>
            <a:ext cx="7245477" cy="1297036"/>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sz="5400" b="1">
              <a:solidFill>
                <a:srgbClr val="2E75B5"/>
              </a:solidFill>
              <a:latin typeface="Arial"/>
              <a:ea typeface="Arial"/>
              <a:cs typeface="Arial"/>
              <a:sym typeface="Arial"/>
            </a:endParaRPr>
          </a:p>
        </p:txBody>
      </p:sp>
      <p:sp>
        <p:nvSpPr>
          <p:cNvPr id="117" name="Google Shape;117;p3"/>
          <p:cNvSpPr txBox="1">
            <a:spLocks noGrp="1"/>
          </p:cNvSpPr>
          <p:nvPr>
            <p:ph type="title"/>
          </p:nvPr>
        </p:nvSpPr>
        <p:spPr>
          <a:xfrm>
            <a:off x="838200" y="365126"/>
            <a:ext cx="10515600" cy="931412"/>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Arial"/>
              <a:buNone/>
            </a:pPr>
            <a:r>
              <a:rPr lang="en-US" sz="4000" b="1" u="sng" dirty="0"/>
              <a:t>INTRODUCTION</a:t>
            </a:r>
            <a:endParaRPr sz="4000" b="1" u="sng" dirty="0"/>
          </a:p>
        </p:txBody>
      </p:sp>
      <p:sp>
        <p:nvSpPr>
          <p:cNvPr id="118" name="Google Shape;118;p3"/>
          <p:cNvSpPr txBox="1">
            <a:spLocks noGrp="1"/>
          </p:cNvSpPr>
          <p:nvPr>
            <p:ph type="body" idx="1"/>
          </p:nvPr>
        </p:nvSpPr>
        <p:spPr>
          <a:xfrm>
            <a:off x="838200" y="1370294"/>
            <a:ext cx="10087376" cy="4845846"/>
          </a:xfrm>
          <a:prstGeom prst="rect">
            <a:avLst/>
          </a:prstGeom>
          <a:noFill/>
          <a:ln>
            <a:noFill/>
          </a:ln>
        </p:spPr>
        <p:txBody>
          <a:bodyPr spcFirstLastPara="1" wrap="square" lIns="91425" tIns="45700" rIns="91425" bIns="45700" anchor="t" anchorCtr="0">
            <a:normAutofit/>
          </a:bodyPr>
          <a:lstStyle/>
          <a:p>
            <a:pPr algn="just">
              <a:lnSpc>
                <a:spcPct val="150000"/>
              </a:lnSpc>
              <a:buFont typeface="Arial" panose="020B0604020202020204" pitchFamily="34" charset="0"/>
              <a:buChar char="•"/>
            </a:pPr>
            <a:r>
              <a:rPr lang="en-US" sz="2400" dirty="0"/>
              <a:t>Anemia is a widespread health condition.</a:t>
            </a:r>
          </a:p>
          <a:p>
            <a:pPr algn="just">
              <a:lnSpc>
                <a:spcPct val="150000"/>
              </a:lnSpc>
              <a:buFont typeface="Arial" panose="020B0604020202020204" pitchFamily="34" charset="0"/>
              <a:buChar char="•"/>
            </a:pPr>
            <a:r>
              <a:rPr lang="en-US" sz="2400" dirty="0"/>
              <a:t>Conventional diagnosis requires blood samples and uses invasive methods.</a:t>
            </a:r>
          </a:p>
          <a:p>
            <a:pPr algn="just">
              <a:lnSpc>
                <a:spcPct val="150000"/>
              </a:lnSpc>
              <a:buFont typeface="Arial" panose="020B0604020202020204" pitchFamily="34" charset="0"/>
              <a:buChar char="•"/>
            </a:pPr>
            <a:r>
              <a:rPr lang="en-US" sz="2400" dirty="0"/>
              <a:t>This brings us to the idea of </a:t>
            </a:r>
            <a:r>
              <a:rPr lang="en-US" sz="2400" b="1" dirty="0"/>
              <a:t>non-invasive, quick, and cost-effective solution.</a:t>
            </a:r>
            <a:endParaRPr lang="en-US" sz="2400" dirty="0"/>
          </a:p>
          <a:p>
            <a:pPr algn="just">
              <a:lnSpc>
                <a:spcPct val="150000"/>
              </a:lnSpc>
              <a:buFont typeface="Arial" panose="020B0604020202020204" pitchFamily="34" charset="0"/>
              <a:buChar char="•"/>
            </a:pPr>
            <a:r>
              <a:rPr lang="en-US" sz="2400" dirty="0"/>
              <a:t>Proposed system uses </a:t>
            </a:r>
            <a:r>
              <a:rPr lang="en-US" sz="2400" b="1" dirty="0"/>
              <a:t>optical sensing (Red &amp; IR light)</a:t>
            </a:r>
            <a:endParaRPr lang="en-US" sz="2400" dirty="0"/>
          </a:p>
          <a:p>
            <a:pPr algn="just">
              <a:lnSpc>
                <a:spcPct val="150000"/>
              </a:lnSpc>
              <a:buFont typeface="Arial" panose="020B0604020202020204" pitchFamily="34" charset="0"/>
              <a:buChar char="•"/>
            </a:pPr>
            <a:r>
              <a:rPr lang="en-US" sz="2400" dirty="0"/>
              <a:t>Using lights of different wavelengths to estimate </a:t>
            </a:r>
            <a:r>
              <a:rPr lang="en-US" sz="2400" dirty="0" err="1"/>
              <a:t>haemoglobin</a:t>
            </a:r>
            <a:r>
              <a:rPr lang="en-US" sz="2400" dirty="0"/>
              <a:t> levels.</a:t>
            </a:r>
          </a:p>
          <a:p>
            <a:pPr marL="520700" lvl="0" algn="just" rtl="0">
              <a:lnSpc>
                <a:spcPct val="150000"/>
              </a:lnSpc>
              <a:spcBef>
                <a:spcPts val="1000"/>
              </a:spcBef>
              <a:spcAft>
                <a:spcPts val="0"/>
              </a:spcAft>
              <a:buClr>
                <a:schemeClr val="dk1"/>
              </a:buClr>
              <a:buSzPts val="2800"/>
              <a:buFont typeface="Arial" panose="020B0604020202020204" pitchFamily="34" charset="0"/>
              <a:buChar char="•"/>
            </a:pPr>
            <a:endParaRPr sz="2400" dirty="0"/>
          </a:p>
        </p:txBody>
      </p:sp>
      <p:sp>
        <p:nvSpPr>
          <p:cNvPr id="119" name="Google Shape;119;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4"/>
          <p:cNvSpPr/>
          <p:nvPr/>
        </p:nvSpPr>
        <p:spPr>
          <a:xfrm>
            <a:off x="11320530" y="141668"/>
            <a:ext cx="643943" cy="6362163"/>
          </a:xfrm>
          <a:prstGeom prst="rect">
            <a:avLst/>
          </a:prstGeom>
          <a:solidFill>
            <a:srgbClr val="FF0000"/>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126" name="Google Shape;126;p4"/>
          <p:cNvPicPr preferRelativeResize="0"/>
          <p:nvPr/>
        </p:nvPicPr>
        <p:blipFill rotWithShape="1">
          <a:blip r:embed="rId3">
            <a:alphaModFix/>
          </a:blip>
          <a:srcRect/>
          <a:stretch/>
        </p:blipFill>
        <p:spPr>
          <a:xfrm>
            <a:off x="10299700" y="291370"/>
            <a:ext cx="892040" cy="892040"/>
          </a:xfrm>
          <a:prstGeom prst="rect">
            <a:avLst/>
          </a:prstGeom>
          <a:noFill/>
          <a:ln>
            <a:noFill/>
          </a:ln>
        </p:spPr>
      </p:pic>
      <p:sp>
        <p:nvSpPr>
          <p:cNvPr id="127" name="Google Shape;127;p4"/>
          <p:cNvSpPr/>
          <p:nvPr/>
        </p:nvSpPr>
        <p:spPr>
          <a:xfrm>
            <a:off x="0" y="6385535"/>
            <a:ext cx="4798142" cy="472465"/>
          </a:xfrm>
          <a:prstGeom prst="rect">
            <a:avLst/>
          </a:prstGeom>
          <a:solidFill>
            <a:srgbClr val="2E75B5"/>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lt1"/>
                </a:solidFill>
                <a:latin typeface="Arial"/>
                <a:ea typeface="Arial"/>
                <a:cs typeface="Arial"/>
                <a:sym typeface="Arial"/>
              </a:rPr>
              <a:t>Saintgits College of Engineering (Autonomous)</a:t>
            </a:r>
            <a:endParaRPr sz="1800" b="1">
              <a:solidFill>
                <a:schemeClr val="lt1"/>
              </a:solidFill>
              <a:latin typeface="Arial"/>
              <a:ea typeface="Arial"/>
              <a:cs typeface="Arial"/>
              <a:sym typeface="Arial"/>
            </a:endParaRPr>
          </a:p>
        </p:txBody>
      </p:sp>
      <p:sp>
        <p:nvSpPr>
          <p:cNvPr id="128" name="Google Shape;128;p4"/>
          <p:cNvSpPr txBox="1"/>
          <p:nvPr/>
        </p:nvSpPr>
        <p:spPr>
          <a:xfrm>
            <a:off x="3680099" y="2658122"/>
            <a:ext cx="7245477" cy="1297036"/>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sz="5400" b="1">
              <a:solidFill>
                <a:srgbClr val="2E75B5"/>
              </a:solidFill>
              <a:latin typeface="Arial"/>
              <a:ea typeface="Arial"/>
              <a:cs typeface="Arial"/>
              <a:sym typeface="Arial"/>
            </a:endParaRPr>
          </a:p>
        </p:txBody>
      </p:sp>
      <p:sp>
        <p:nvSpPr>
          <p:cNvPr id="129" name="Google Shape;129;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Arial"/>
              <a:buNone/>
            </a:pPr>
            <a:r>
              <a:rPr lang="en-US" sz="4000" b="1" u="sng" dirty="0"/>
              <a:t>INITIAL SCOPE OF WORKS</a:t>
            </a:r>
            <a:endParaRPr sz="4000" b="1" u="sng" dirty="0"/>
          </a:p>
        </p:txBody>
      </p:sp>
      <p:sp>
        <p:nvSpPr>
          <p:cNvPr id="130" name="Google Shape;130;p4"/>
          <p:cNvSpPr txBox="1">
            <a:spLocks noGrp="1"/>
          </p:cNvSpPr>
          <p:nvPr>
            <p:ph type="body" idx="1"/>
          </p:nvPr>
        </p:nvSpPr>
        <p:spPr>
          <a:xfrm>
            <a:off x="838200" y="1690689"/>
            <a:ext cx="9392728" cy="3671336"/>
          </a:xfrm>
          <a:prstGeom prst="rect">
            <a:avLst/>
          </a:prstGeom>
          <a:noFill/>
          <a:ln>
            <a:noFill/>
          </a:ln>
        </p:spPr>
        <p:txBody>
          <a:bodyPr spcFirstLastPara="1" wrap="square" lIns="91425" tIns="45700" rIns="91425" bIns="45700" anchor="t" anchorCtr="0">
            <a:normAutofit/>
          </a:bodyPr>
          <a:lstStyle/>
          <a:p>
            <a:pPr>
              <a:lnSpc>
                <a:spcPct val="150000"/>
              </a:lnSpc>
            </a:pPr>
            <a:r>
              <a:rPr lang="en-IN" sz="2400" dirty="0"/>
              <a:t>Measure haemoglobin non-invasively</a:t>
            </a:r>
          </a:p>
          <a:p>
            <a:pPr>
              <a:lnSpc>
                <a:spcPct val="150000"/>
              </a:lnSpc>
            </a:pPr>
            <a:r>
              <a:rPr lang="en-IN" sz="2400" dirty="0"/>
              <a:t>Use MAX30102 sensor for data collection</a:t>
            </a:r>
          </a:p>
          <a:p>
            <a:pPr>
              <a:lnSpc>
                <a:spcPct val="150000"/>
              </a:lnSpc>
            </a:pPr>
            <a:r>
              <a:rPr lang="en-IN" sz="2400" dirty="0"/>
              <a:t>Develop a simple prototype using ESP32</a:t>
            </a:r>
          </a:p>
          <a:p>
            <a:pPr>
              <a:lnSpc>
                <a:spcPct val="150000"/>
              </a:lnSpc>
            </a:pPr>
            <a:r>
              <a:rPr lang="en-IN" sz="2400" dirty="0"/>
              <a:t>Display results on OLED</a:t>
            </a:r>
          </a:p>
          <a:p>
            <a:pPr>
              <a:lnSpc>
                <a:spcPct val="150000"/>
              </a:lnSpc>
            </a:pPr>
            <a:r>
              <a:rPr lang="en-IN" sz="2400" dirty="0"/>
              <a:t>Provide quick estimation for demonstration</a:t>
            </a:r>
          </a:p>
          <a:p>
            <a:pPr marL="114300" indent="0">
              <a:lnSpc>
                <a:spcPct val="150000"/>
              </a:lnSpc>
              <a:buNone/>
            </a:pPr>
            <a:endParaRPr sz="2400" dirty="0"/>
          </a:p>
        </p:txBody>
      </p:sp>
      <p:sp>
        <p:nvSpPr>
          <p:cNvPr id="131" name="Google Shape;131;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2">
          <a:extLst>
            <a:ext uri="{FF2B5EF4-FFF2-40B4-BE49-F238E27FC236}">
              <a16:creationId xmlns:a16="http://schemas.microsoft.com/office/drawing/2014/main" id="{AF4FC460-6595-8434-5C0B-94D6DC4D8D2A}"/>
            </a:ext>
          </a:extLst>
        </p:cNvPr>
        <p:cNvGrpSpPr/>
        <p:nvPr/>
      </p:nvGrpSpPr>
      <p:grpSpPr>
        <a:xfrm>
          <a:off x="0" y="0"/>
          <a:ext cx="0" cy="0"/>
          <a:chOff x="0" y="0"/>
          <a:chExt cx="0" cy="0"/>
        </a:xfrm>
      </p:grpSpPr>
      <p:sp>
        <p:nvSpPr>
          <p:cNvPr id="113" name="Google Shape;113;p3">
            <a:extLst>
              <a:ext uri="{FF2B5EF4-FFF2-40B4-BE49-F238E27FC236}">
                <a16:creationId xmlns:a16="http://schemas.microsoft.com/office/drawing/2014/main" id="{F48C375D-2E41-3024-2EAE-36A339FAF926}"/>
              </a:ext>
            </a:extLst>
          </p:cNvPr>
          <p:cNvSpPr/>
          <p:nvPr/>
        </p:nvSpPr>
        <p:spPr>
          <a:xfrm>
            <a:off x="11320530" y="141668"/>
            <a:ext cx="643943" cy="6362163"/>
          </a:xfrm>
          <a:prstGeom prst="rect">
            <a:avLst/>
          </a:prstGeom>
          <a:solidFill>
            <a:srgbClr val="FF0000"/>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114" name="Google Shape;114;p3">
            <a:extLst>
              <a:ext uri="{FF2B5EF4-FFF2-40B4-BE49-F238E27FC236}">
                <a16:creationId xmlns:a16="http://schemas.microsoft.com/office/drawing/2014/main" id="{62525F75-E919-B872-21BB-7DAD13CB4728}"/>
              </a:ext>
            </a:extLst>
          </p:cNvPr>
          <p:cNvPicPr preferRelativeResize="0"/>
          <p:nvPr/>
        </p:nvPicPr>
        <p:blipFill rotWithShape="1">
          <a:blip r:embed="rId3">
            <a:alphaModFix/>
          </a:blip>
          <a:srcRect/>
          <a:stretch/>
        </p:blipFill>
        <p:spPr>
          <a:xfrm>
            <a:off x="10299700" y="291370"/>
            <a:ext cx="892040" cy="892040"/>
          </a:xfrm>
          <a:prstGeom prst="rect">
            <a:avLst/>
          </a:prstGeom>
          <a:noFill/>
          <a:ln>
            <a:noFill/>
          </a:ln>
        </p:spPr>
      </p:pic>
      <p:sp>
        <p:nvSpPr>
          <p:cNvPr id="115" name="Google Shape;115;p3">
            <a:extLst>
              <a:ext uri="{FF2B5EF4-FFF2-40B4-BE49-F238E27FC236}">
                <a16:creationId xmlns:a16="http://schemas.microsoft.com/office/drawing/2014/main" id="{16089E73-15D0-4A01-7FAE-8D5D243F6EC6}"/>
              </a:ext>
            </a:extLst>
          </p:cNvPr>
          <p:cNvSpPr/>
          <p:nvPr/>
        </p:nvSpPr>
        <p:spPr>
          <a:xfrm>
            <a:off x="-1" y="6367306"/>
            <a:ext cx="4729317" cy="490694"/>
          </a:xfrm>
          <a:prstGeom prst="rect">
            <a:avLst/>
          </a:prstGeom>
          <a:solidFill>
            <a:srgbClr val="2E75B5"/>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lt1"/>
                </a:solidFill>
                <a:latin typeface="Arial"/>
                <a:ea typeface="Arial"/>
                <a:cs typeface="Arial"/>
                <a:sym typeface="Arial"/>
              </a:rPr>
              <a:t>Saintgits College of Engineering (Autonomous)</a:t>
            </a:r>
            <a:endParaRPr sz="1800" b="1">
              <a:solidFill>
                <a:schemeClr val="lt1"/>
              </a:solidFill>
              <a:latin typeface="Arial"/>
              <a:ea typeface="Arial"/>
              <a:cs typeface="Arial"/>
              <a:sym typeface="Arial"/>
            </a:endParaRPr>
          </a:p>
        </p:txBody>
      </p:sp>
      <p:sp>
        <p:nvSpPr>
          <p:cNvPr id="116" name="Google Shape;116;p3">
            <a:extLst>
              <a:ext uri="{FF2B5EF4-FFF2-40B4-BE49-F238E27FC236}">
                <a16:creationId xmlns:a16="http://schemas.microsoft.com/office/drawing/2014/main" id="{C95F92F4-70F5-6815-6E05-9BAC877ED15F}"/>
              </a:ext>
            </a:extLst>
          </p:cNvPr>
          <p:cNvSpPr txBox="1"/>
          <p:nvPr/>
        </p:nvSpPr>
        <p:spPr>
          <a:xfrm>
            <a:off x="6571495" y="1658678"/>
            <a:ext cx="4620245" cy="4584543"/>
          </a:xfrm>
          <a:prstGeom prst="rect">
            <a:avLst/>
          </a:prstGeom>
          <a:noFill/>
          <a:ln>
            <a:noFill/>
          </a:ln>
        </p:spPr>
        <p:txBody>
          <a:bodyPr spcFirstLastPara="1" wrap="square" lIns="91425" tIns="45700" rIns="91425" bIns="45700" anchor="t" anchorCtr="0">
            <a:noAutofit/>
          </a:bodyPr>
          <a:lstStyle/>
          <a:p>
            <a:endParaRPr lang="en-US" sz="2400" dirty="0"/>
          </a:p>
          <a:p>
            <a:r>
              <a:rPr lang="en-US" sz="2400" b="1" dirty="0"/>
              <a:t>1. </a:t>
            </a:r>
            <a:r>
              <a:rPr lang="en-US" sz="2400" dirty="0"/>
              <a:t>Improved to </a:t>
            </a:r>
            <a:r>
              <a:rPr lang="en-US" sz="2400" b="1" dirty="0"/>
              <a:t>multiple readings + averaging</a:t>
            </a:r>
            <a:endParaRPr lang="en-US" sz="2400" dirty="0"/>
          </a:p>
          <a:p>
            <a:br>
              <a:rPr lang="en-US" sz="2400" dirty="0"/>
            </a:br>
            <a:r>
              <a:rPr lang="en-US" sz="2400" b="1" dirty="0"/>
              <a:t>2. </a:t>
            </a:r>
            <a:r>
              <a:rPr lang="en-US" sz="2400" dirty="0"/>
              <a:t>Modified to </a:t>
            </a:r>
            <a:r>
              <a:rPr lang="en-US" sz="2400" b="1" dirty="0"/>
              <a:t>timed sampling (~7 seconds)</a:t>
            </a:r>
            <a:r>
              <a:rPr lang="en-US" sz="2400" dirty="0"/>
              <a:t> for stability</a:t>
            </a:r>
          </a:p>
          <a:p>
            <a:br>
              <a:rPr lang="en-US" sz="2400" dirty="0"/>
            </a:br>
            <a:r>
              <a:rPr lang="en-US" sz="2400" b="1" dirty="0"/>
              <a:t>3. </a:t>
            </a:r>
            <a:r>
              <a:rPr lang="en-US" sz="2400" dirty="0"/>
              <a:t>Updated to </a:t>
            </a:r>
            <a:r>
              <a:rPr lang="en-US" sz="2400" b="1" dirty="0"/>
              <a:t>button-controlled measurement system</a:t>
            </a:r>
            <a:endParaRPr lang="en-US" sz="2400" dirty="0"/>
          </a:p>
          <a:p>
            <a:endParaRPr lang="en-US" sz="2400" b="1" dirty="0"/>
          </a:p>
          <a:p>
            <a:pPr lvl="0">
              <a:lnSpc>
                <a:spcPct val="90000"/>
              </a:lnSpc>
              <a:buClr>
                <a:schemeClr val="dk1"/>
              </a:buClr>
              <a:buSzPts val="2400"/>
            </a:pPr>
            <a:endParaRPr lang="en-US" sz="2400" dirty="0">
              <a:solidFill>
                <a:schemeClr val="dk1"/>
              </a:solidFill>
            </a:endParaRPr>
          </a:p>
        </p:txBody>
      </p:sp>
      <p:sp>
        <p:nvSpPr>
          <p:cNvPr id="117" name="Google Shape;117;p3">
            <a:extLst>
              <a:ext uri="{FF2B5EF4-FFF2-40B4-BE49-F238E27FC236}">
                <a16:creationId xmlns:a16="http://schemas.microsoft.com/office/drawing/2014/main" id="{3300D5D2-A68A-6918-538D-22D356838621}"/>
              </a:ext>
            </a:extLst>
          </p:cNvPr>
          <p:cNvSpPr txBox="1">
            <a:spLocks noGrp="1"/>
          </p:cNvSpPr>
          <p:nvPr>
            <p:ph type="title"/>
          </p:nvPr>
        </p:nvSpPr>
        <p:spPr>
          <a:xfrm>
            <a:off x="618417" y="365127"/>
            <a:ext cx="10515600" cy="931412"/>
          </a:xfrm>
          <a:prstGeom prst="rect">
            <a:avLst/>
          </a:prstGeom>
          <a:noFill/>
          <a:ln>
            <a:noFill/>
          </a:ln>
        </p:spPr>
        <p:txBody>
          <a:bodyPr spcFirstLastPara="1" wrap="square" lIns="91425" tIns="45700" rIns="91425" bIns="45700" anchor="ctr" anchorCtr="0">
            <a:normAutofit/>
          </a:bodyPr>
          <a:lstStyle/>
          <a:p>
            <a:pPr lvl="0" algn="ctr">
              <a:buSzPts val="4400"/>
            </a:pPr>
            <a:r>
              <a:rPr lang="en-US" sz="4000" b="1" u="sng" dirty="0"/>
              <a:t>CHANGES IN PLAN</a:t>
            </a:r>
            <a:endParaRPr sz="4000" b="1" u="sng" dirty="0"/>
          </a:p>
        </p:txBody>
      </p:sp>
      <p:sp>
        <p:nvSpPr>
          <p:cNvPr id="118" name="Google Shape;118;p3">
            <a:extLst>
              <a:ext uri="{FF2B5EF4-FFF2-40B4-BE49-F238E27FC236}">
                <a16:creationId xmlns:a16="http://schemas.microsoft.com/office/drawing/2014/main" id="{E305413D-D5B6-3868-61BF-986C984B841E}"/>
              </a:ext>
            </a:extLst>
          </p:cNvPr>
          <p:cNvSpPr txBox="1">
            <a:spLocks noGrp="1"/>
          </p:cNvSpPr>
          <p:nvPr>
            <p:ph type="body" idx="1"/>
          </p:nvPr>
        </p:nvSpPr>
        <p:spPr>
          <a:xfrm>
            <a:off x="765213" y="1575266"/>
            <a:ext cx="4729317" cy="3707468"/>
          </a:xfrm>
          <a:prstGeom prst="rect">
            <a:avLst/>
          </a:prstGeom>
          <a:noFill/>
          <a:ln>
            <a:noFill/>
          </a:ln>
        </p:spPr>
        <p:txBody>
          <a:bodyPr spcFirstLastPara="1" wrap="square" lIns="91425" tIns="45700" rIns="91425" bIns="45700" anchor="t" anchorCtr="0">
            <a:normAutofit/>
          </a:bodyPr>
          <a:lstStyle/>
          <a:p>
            <a:pPr marL="114300" indent="0">
              <a:buNone/>
            </a:pPr>
            <a:br>
              <a:rPr lang="en-US" sz="2000" dirty="0"/>
            </a:br>
            <a:endParaRPr lang="en-US" sz="2400" dirty="0"/>
          </a:p>
          <a:p>
            <a:pPr marL="628650" indent="-514350">
              <a:buFont typeface="+mj-lt"/>
              <a:buAutoNum type="arabicPeriod"/>
            </a:pPr>
            <a:r>
              <a:rPr lang="en-US" sz="2400" b="1" dirty="0"/>
              <a:t>Single reading approach</a:t>
            </a:r>
            <a:br>
              <a:rPr lang="en-US" sz="2400" dirty="0"/>
            </a:br>
            <a:endParaRPr lang="en-US" sz="2400" dirty="0"/>
          </a:p>
          <a:p>
            <a:pPr marL="628650" indent="-514350">
              <a:buFont typeface="+mj-lt"/>
              <a:buAutoNum type="arabicPeriod"/>
            </a:pPr>
            <a:r>
              <a:rPr lang="en-US" sz="2400" b="1" dirty="0"/>
              <a:t>Instant measurement           </a:t>
            </a:r>
            <a:br>
              <a:rPr lang="en-US" sz="2400" dirty="0"/>
            </a:br>
            <a:endParaRPr lang="en-US" sz="2400" dirty="0"/>
          </a:p>
          <a:p>
            <a:pPr marL="628650" indent="-514350">
              <a:buFont typeface="+mj-lt"/>
              <a:buAutoNum type="arabicPeriod"/>
            </a:pPr>
            <a:r>
              <a:rPr lang="en-US" sz="2400" b="1" dirty="0"/>
              <a:t>Continuous sensing</a:t>
            </a:r>
            <a:br>
              <a:rPr lang="en-US" sz="2000" dirty="0"/>
            </a:br>
            <a:endParaRPr lang="en-US" sz="2000" dirty="0"/>
          </a:p>
          <a:p>
            <a:pPr marL="114300" indent="0">
              <a:buNone/>
            </a:pPr>
            <a:endParaRPr lang="en-US" sz="2000" b="1" dirty="0"/>
          </a:p>
          <a:p>
            <a:pPr marL="0" lvl="0" indent="0">
              <a:spcBef>
                <a:spcPts val="0"/>
              </a:spcBef>
              <a:buSzPts val="2400"/>
              <a:buNone/>
            </a:pPr>
            <a:endParaRPr lang="en-US" sz="2000" dirty="0"/>
          </a:p>
          <a:p>
            <a:pPr marL="228600" lvl="0" indent="-50800" algn="just" rtl="0">
              <a:lnSpc>
                <a:spcPct val="90000"/>
              </a:lnSpc>
              <a:spcBef>
                <a:spcPts val="1000"/>
              </a:spcBef>
              <a:spcAft>
                <a:spcPts val="0"/>
              </a:spcAft>
              <a:buClr>
                <a:schemeClr val="dk1"/>
              </a:buClr>
              <a:buSzPts val="2800"/>
              <a:buNone/>
            </a:pPr>
            <a:endParaRPr sz="2400" dirty="0"/>
          </a:p>
        </p:txBody>
      </p:sp>
      <p:sp>
        <p:nvSpPr>
          <p:cNvPr id="119" name="Google Shape;119;p3">
            <a:extLst>
              <a:ext uri="{FF2B5EF4-FFF2-40B4-BE49-F238E27FC236}">
                <a16:creationId xmlns:a16="http://schemas.microsoft.com/office/drawing/2014/main" id="{DD0AC98E-D5B8-3461-890D-0799C4FD859B}"/>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a:p>
        </p:txBody>
      </p:sp>
      <p:sp>
        <p:nvSpPr>
          <p:cNvPr id="2" name="Google Shape;144;p5">
            <a:extLst>
              <a:ext uri="{FF2B5EF4-FFF2-40B4-BE49-F238E27FC236}">
                <a16:creationId xmlns:a16="http://schemas.microsoft.com/office/drawing/2014/main" id="{1A26CCF9-7003-7EF0-13CA-034DB54CB312}"/>
              </a:ext>
            </a:extLst>
          </p:cNvPr>
          <p:cNvSpPr/>
          <p:nvPr/>
        </p:nvSpPr>
        <p:spPr>
          <a:xfrm>
            <a:off x="5494530" y="3186684"/>
            <a:ext cx="763374" cy="484632"/>
          </a:xfrm>
          <a:prstGeom prst="rightArrow">
            <a:avLst>
              <a:gd name="adj1" fmla="val 50000"/>
              <a:gd name="adj2" fmla="val 50000"/>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spcBef>
                <a:spcPts val="0"/>
              </a:spcBef>
              <a:spcAft>
                <a:spcPts val="0"/>
              </a:spcAft>
              <a:buNone/>
            </a:pPr>
            <a:endParaRPr sz="1800"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589745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6"/>
          <p:cNvSpPr/>
          <p:nvPr/>
        </p:nvSpPr>
        <p:spPr>
          <a:xfrm>
            <a:off x="11320530" y="141668"/>
            <a:ext cx="643943" cy="6362163"/>
          </a:xfrm>
          <a:prstGeom prst="rect">
            <a:avLst/>
          </a:prstGeom>
          <a:solidFill>
            <a:srgbClr val="FF0000"/>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151" name="Google Shape;151;p6"/>
          <p:cNvPicPr preferRelativeResize="0"/>
          <p:nvPr/>
        </p:nvPicPr>
        <p:blipFill rotWithShape="1">
          <a:blip r:embed="rId3">
            <a:alphaModFix/>
          </a:blip>
          <a:srcRect/>
          <a:stretch/>
        </p:blipFill>
        <p:spPr>
          <a:xfrm>
            <a:off x="10299700" y="291370"/>
            <a:ext cx="892040" cy="892040"/>
          </a:xfrm>
          <a:prstGeom prst="rect">
            <a:avLst/>
          </a:prstGeom>
          <a:noFill/>
          <a:ln>
            <a:noFill/>
          </a:ln>
        </p:spPr>
      </p:pic>
      <p:sp>
        <p:nvSpPr>
          <p:cNvPr id="152" name="Google Shape;152;p6"/>
          <p:cNvSpPr/>
          <p:nvPr/>
        </p:nvSpPr>
        <p:spPr>
          <a:xfrm>
            <a:off x="-1" y="6367306"/>
            <a:ext cx="4758813" cy="490694"/>
          </a:xfrm>
          <a:prstGeom prst="rect">
            <a:avLst/>
          </a:prstGeom>
          <a:solidFill>
            <a:srgbClr val="2E75B5"/>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lt1"/>
                </a:solidFill>
                <a:latin typeface="Arial"/>
                <a:ea typeface="Arial"/>
                <a:cs typeface="Arial"/>
                <a:sym typeface="Arial"/>
              </a:rPr>
              <a:t>Saintgits College of Engineering (Autonomous)</a:t>
            </a:r>
            <a:endParaRPr sz="1800" b="1">
              <a:solidFill>
                <a:schemeClr val="lt1"/>
              </a:solidFill>
              <a:latin typeface="Arial"/>
              <a:ea typeface="Arial"/>
              <a:cs typeface="Arial"/>
              <a:sym typeface="Arial"/>
            </a:endParaRPr>
          </a:p>
        </p:txBody>
      </p:sp>
      <p:sp>
        <p:nvSpPr>
          <p:cNvPr id="153" name="Google Shape;153;p6"/>
          <p:cNvSpPr txBox="1">
            <a:spLocks noGrp="1"/>
          </p:cNvSpPr>
          <p:nvPr>
            <p:ph type="title"/>
          </p:nvPr>
        </p:nvSpPr>
        <p:spPr>
          <a:xfrm>
            <a:off x="838200" y="365125"/>
            <a:ext cx="10515600" cy="818285"/>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Arial"/>
              <a:buNone/>
            </a:pPr>
            <a:r>
              <a:rPr lang="en-US" sz="4000" b="1" u="sng" dirty="0"/>
              <a:t>LITERATURE</a:t>
            </a:r>
            <a:r>
              <a:rPr lang="en-US" b="1" u="sng" dirty="0"/>
              <a:t> SURVEY</a:t>
            </a:r>
            <a:endParaRPr sz="4000" b="1" u="sng" dirty="0"/>
          </a:p>
        </p:txBody>
      </p:sp>
      <p:sp>
        <p:nvSpPr>
          <p:cNvPr id="154" name="Google Shape;15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a:p>
        </p:txBody>
      </p:sp>
      <p:graphicFrame>
        <p:nvGraphicFramePr>
          <p:cNvPr id="2" name="Google Shape;155;p6"/>
          <p:cNvGraphicFramePr/>
          <p:nvPr>
            <p:extLst>
              <p:ext uri="{D42A27DB-BD31-4B8C-83A1-F6EECF244321}">
                <p14:modId xmlns:p14="http://schemas.microsoft.com/office/powerpoint/2010/main" val="3911852959"/>
              </p:ext>
            </p:extLst>
          </p:nvPr>
        </p:nvGraphicFramePr>
        <p:xfrm>
          <a:off x="500332" y="1257164"/>
          <a:ext cx="10429937" cy="4936330"/>
        </p:xfrm>
        <a:graphic>
          <a:graphicData uri="http://schemas.openxmlformats.org/drawingml/2006/table">
            <a:tbl>
              <a:tblPr firstRow="1" bandRow="1">
                <a:tableStyleId>{69C7853C-536D-4A76-A0AE-DD22124D55A5}</a:tableStyleId>
              </a:tblPr>
              <a:tblGrid>
                <a:gridCol w="645534">
                  <a:extLst>
                    <a:ext uri="{9D8B030D-6E8A-4147-A177-3AD203B41FA5}">
                      <a16:colId xmlns:a16="http://schemas.microsoft.com/office/drawing/2014/main" val="20000"/>
                    </a:ext>
                  </a:extLst>
                </a:gridCol>
                <a:gridCol w="2594638">
                  <a:extLst>
                    <a:ext uri="{9D8B030D-6E8A-4147-A177-3AD203B41FA5}">
                      <a16:colId xmlns:a16="http://schemas.microsoft.com/office/drawing/2014/main" val="20001"/>
                    </a:ext>
                  </a:extLst>
                </a:gridCol>
                <a:gridCol w="7189765">
                  <a:extLst>
                    <a:ext uri="{9D8B030D-6E8A-4147-A177-3AD203B41FA5}">
                      <a16:colId xmlns:a16="http://schemas.microsoft.com/office/drawing/2014/main" val="20002"/>
                    </a:ext>
                  </a:extLst>
                </a:gridCol>
              </a:tblGrid>
              <a:tr h="366735">
                <a:tc>
                  <a:txBody>
                    <a:bodyPr/>
                    <a:lstStyle/>
                    <a:p>
                      <a:pPr marL="0" marR="0" lvl="0" indent="0" algn="l" rtl="0">
                        <a:spcBef>
                          <a:spcPts val="0"/>
                        </a:spcBef>
                        <a:spcAft>
                          <a:spcPts val="0"/>
                        </a:spcAft>
                        <a:buNone/>
                      </a:pPr>
                      <a:r>
                        <a:rPr lang="en-US" sz="1400" u="none" strike="noStrike" cap="none" dirty="0">
                          <a:solidFill>
                            <a:schemeClr val="tx1"/>
                          </a:solidFill>
                        </a:rPr>
                        <a:t>S.no.</a:t>
                      </a:r>
                      <a:endParaRPr sz="1400" dirty="0">
                        <a:solidFill>
                          <a:schemeClr val="tx1"/>
                        </a:solidFill>
                      </a:endParaRPr>
                    </a:p>
                  </a:txBody>
                  <a:tcPr marL="91450" marR="91450" marT="45725" marB="45725"/>
                </a:tc>
                <a:tc>
                  <a:txBody>
                    <a:bodyPr/>
                    <a:lstStyle/>
                    <a:p>
                      <a:pPr marL="0" marR="0" lvl="0" indent="0" algn="l" rtl="0">
                        <a:spcBef>
                          <a:spcPts val="0"/>
                        </a:spcBef>
                        <a:spcAft>
                          <a:spcPts val="0"/>
                        </a:spcAft>
                        <a:buNone/>
                      </a:pPr>
                      <a:r>
                        <a:rPr lang="en-US" sz="1600" dirty="0">
                          <a:solidFill>
                            <a:schemeClr val="tx1"/>
                          </a:solidFill>
                        </a:rPr>
                        <a:t>Reference</a:t>
                      </a:r>
                      <a:r>
                        <a:rPr lang="en-US" sz="1600" dirty="0"/>
                        <a:t> </a:t>
                      </a:r>
                      <a:r>
                        <a:rPr lang="en-US" sz="1600" dirty="0">
                          <a:solidFill>
                            <a:schemeClr val="tx1"/>
                          </a:solidFill>
                        </a:rPr>
                        <a:t>Paper</a:t>
                      </a:r>
                      <a:endParaRPr sz="1600" dirty="0">
                        <a:solidFill>
                          <a:schemeClr val="tx1"/>
                        </a:solidFill>
                      </a:endParaRPr>
                    </a:p>
                  </a:txBody>
                  <a:tcPr marL="91450" marR="91450" marT="45725" marB="45725"/>
                </a:tc>
                <a:tc>
                  <a:txBody>
                    <a:bodyPr/>
                    <a:lstStyle/>
                    <a:p>
                      <a:pPr marL="0" marR="0" lvl="0" indent="0" algn="l" rtl="0">
                        <a:spcBef>
                          <a:spcPts val="0"/>
                        </a:spcBef>
                        <a:spcAft>
                          <a:spcPts val="0"/>
                        </a:spcAft>
                        <a:buNone/>
                      </a:pPr>
                      <a:r>
                        <a:rPr lang="en-US" sz="1600" dirty="0">
                          <a:solidFill>
                            <a:schemeClr val="tx1"/>
                          </a:solidFill>
                        </a:rPr>
                        <a:t>Information</a:t>
                      </a:r>
                      <a:r>
                        <a:rPr lang="en-US" sz="1600" dirty="0"/>
                        <a:t> </a:t>
                      </a:r>
                      <a:r>
                        <a:rPr lang="en-US" sz="1600" dirty="0">
                          <a:solidFill>
                            <a:schemeClr val="tx1"/>
                          </a:solidFill>
                        </a:rPr>
                        <a:t>gained</a:t>
                      </a:r>
                      <a:endParaRPr sz="1600" dirty="0">
                        <a:solidFill>
                          <a:schemeClr val="tx1"/>
                        </a:solidFill>
                      </a:endParaRPr>
                    </a:p>
                  </a:txBody>
                  <a:tcPr marL="91450" marR="91450" marT="45725" marB="45725"/>
                </a:tc>
                <a:extLst>
                  <a:ext uri="{0D108BD9-81ED-4DB2-BD59-A6C34878D82A}">
                    <a16:rowId xmlns:a16="http://schemas.microsoft.com/office/drawing/2014/main" val="10000"/>
                  </a:ext>
                </a:extLst>
              </a:tr>
              <a:tr h="1757955">
                <a:tc>
                  <a:txBody>
                    <a:bodyPr/>
                    <a:lstStyle/>
                    <a:p>
                      <a:pPr marL="0" marR="0" lvl="0" indent="0" algn="l" rtl="0">
                        <a:spcBef>
                          <a:spcPts val="0"/>
                        </a:spcBef>
                        <a:spcAft>
                          <a:spcPts val="0"/>
                        </a:spcAft>
                        <a:buNone/>
                      </a:pPr>
                      <a:r>
                        <a:rPr lang="en-US" sz="1600"/>
                        <a:t>1</a:t>
                      </a:r>
                      <a:endParaRPr sz="1600"/>
                    </a:p>
                  </a:txBody>
                  <a:tcPr marL="91450" marR="91450" marT="45725" marB="45725"/>
                </a:tc>
                <a:tc>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lang="en-US" altLang="en-US" sz="1600" b="0" dirty="0">
                          <a:solidFill>
                            <a:schemeClr val="tx1"/>
                          </a:solidFill>
                        </a:rPr>
                        <a:t>Non-invasive portable hemoglobin concentration monitoring system using optical sensor for anemia disease</a:t>
                      </a:r>
                      <a:endParaRPr lang="en-IN" altLang="en-US" sz="1600" b="0" dirty="0">
                        <a:solidFill>
                          <a:schemeClr val="tx1"/>
                        </a:solidFill>
                      </a:endParaRPr>
                    </a:p>
                    <a:p>
                      <a:pPr marL="0" marR="0" lvl="0" indent="0" algn="just" rtl="0">
                        <a:spcBef>
                          <a:spcPts val="0"/>
                        </a:spcBef>
                        <a:spcAft>
                          <a:spcPts val="0"/>
                        </a:spcAft>
                        <a:buNone/>
                      </a:pPr>
                      <a:endParaRPr sz="1600" dirty="0"/>
                    </a:p>
                  </a:txBody>
                  <a:tcPr marL="91450" marR="91450" marT="45725" marB="45725"/>
                </a:tc>
                <a:tc>
                  <a:txBody>
                    <a:bodyPr/>
                    <a:lstStyle/>
                    <a:p>
                      <a:pPr algn="just"/>
                      <a:r>
                        <a:rPr lang="en-US" sz="1600" b="0" u="none" strike="noStrike" cap="none" dirty="0">
                          <a:solidFill>
                            <a:schemeClr val="dk1"/>
                          </a:solidFill>
                          <a:effectLst/>
                          <a:sym typeface="Arial"/>
                        </a:rPr>
                        <a:t>This paper presents a portable, non-invasive system to measure hemoglobin using red and infrared light. The device analyzes light absorption through tissue and uses calibration with lab data to estimate Hb levels. It enables quick and painless anemia screening</a:t>
                      </a:r>
                      <a:r>
                        <a:rPr lang="en-US" sz="1600" b="1" u="none" strike="noStrike" cap="none" dirty="0">
                          <a:solidFill>
                            <a:schemeClr val="dk1"/>
                          </a:solidFill>
                          <a:effectLst/>
                          <a:sym typeface="Arial"/>
                        </a:rPr>
                        <a:t>.</a:t>
                      </a:r>
                      <a:endParaRPr lang="en-US" sz="1600" b="0" u="none" strike="noStrike" cap="none" dirty="0">
                        <a:solidFill>
                          <a:schemeClr val="dk1"/>
                        </a:solidFill>
                        <a:effectLst/>
                        <a:sym typeface="Arial"/>
                      </a:endParaRPr>
                    </a:p>
                    <a:p>
                      <a:br>
                        <a:rPr lang="en-US" sz="1600" dirty="0"/>
                      </a:br>
                      <a:endParaRPr sz="1600" b="0" dirty="0"/>
                    </a:p>
                  </a:txBody>
                  <a:tcPr marL="91450" marR="91450" marT="45725" marB="45725"/>
                </a:tc>
                <a:extLst>
                  <a:ext uri="{0D108BD9-81ED-4DB2-BD59-A6C34878D82A}">
                    <a16:rowId xmlns:a16="http://schemas.microsoft.com/office/drawing/2014/main" val="10001"/>
                  </a:ext>
                </a:extLst>
              </a:tr>
              <a:tr h="1459999">
                <a:tc>
                  <a:txBody>
                    <a:bodyPr/>
                    <a:lstStyle/>
                    <a:p>
                      <a:pPr marL="0" marR="0" lvl="0" indent="0" algn="l" rtl="0">
                        <a:spcBef>
                          <a:spcPts val="0"/>
                        </a:spcBef>
                        <a:spcAft>
                          <a:spcPts val="0"/>
                        </a:spcAft>
                        <a:buNone/>
                      </a:pPr>
                      <a:r>
                        <a:rPr lang="en-US" sz="1600"/>
                        <a:t>2</a:t>
                      </a:r>
                      <a:endParaRPr sz="1600"/>
                    </a:p>
                  </a:txBody>
                  <a:tcPr marL="91450" marR="91450" marT="45725" marB="45725"/>
                </a:tc>
                <a:tc>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lang="en-US" altLang="en-US" sz="1600" b="0" dirty="0">
                          <a:solidFill>
                            <a:schemeClr val="tx1"/>
                          </a:solidFill>
                        </a:rPr>
                        <a:t>Non-invasive optical method for Anemia Detection</a:t>
                      </a:r>
                      <a:endParaRPr lang="en-IN" altLang="en-US" sz="1600" b="0" dirty="0">
                        <a:solidFill>
                          <a:schemeClr val="tx1"/>
                        </a:solidFill>
                      </a:endParaRPr>
                    </a:p>
                    <a:p>
                      <a:pPr marL="0" marR="0" lvl="0" indent="0" algn="just" rtl="0">
                        <a:spcBef>
                          <a:spcPts val="0"/>
                        </a:spcBef>
                        <a:spcAft>
                          <a:spcPts val="0"/>
                        </a:spcAft>
                        <a:buNone/>
                      </a:pPr>
                      <a:endParaRPr sz="1600" dirty="0"/>
                    </a:p>
                  </a:txBody>
                  <a:tcPr marL="91450" marR="91450" marT="45725" marB="45725"/>
                </a:tc>
                <a:tc>
                  <a:txBody>
                    <a:bodyPr/>
                    <a:lstStyle/>
                    <a:p>
                      <a:pPr algn="just"/>
                      <a:r>
                        <a:rPr lang="en-US" sz="1600" b="0" u="none" strike="noStrike" cap="none" dirty="0">
                          <a:solidFill>
                            <a:schemeClr val="dk1"/>
                          </a:solidFill>
                          <a:effectLst/>
                          <a:sym typeface="Arial"/>
                        </a:rPr>
                        <a:t>This study explores an optical approach for detecting anemia without blood extraction. It relies on analyzing variations in light absorption (red and infrared) to estimate hemoglobin levels.</a:t>
                      </a:r>
                    </a:p>
                    <a:p>
                      <a:br>
                        <a:rPr lang="en-US" dirty="0"/>
                      </a:br>
                      <a:endParaRPr dirty="0"/>
                    </a:p>
                  </a:txBody>
                  <a:tcPr marL="91450" marR="91450" marT="45725" marB="45725"/>
                </a:tc>
                <a:extLst>
                  <a:ext uri="{0D108BD9-81ED-4DB2-BD59-A6C34878D82A}">
                    <a16:rowId xmlns:a16="http://schemas.microsoft.com/office/drawing/2014/main" val="10002"/>
                  </a:ext>
                </a:extLst>
              </a:tr>
              <a:tr h="1351641">
                <a:tc>
                  <a:txBody>
                    <a:bodyPr/>
                    <a:lstStyle/>
                    <a:p>
                      <a:pPr marL="0" marR="0" lvl="0" indent="0" algn="l" rtl="0">
                        <a:spcBef>
                          <a:spcPts val="0"/>
                        </a:spcBef>
                        <a:spcAft>
                          <a:spcPts val="0"/>
                        </a:spcAft>
                        <a:buNone/>
                      </a:pPr>
                      <a:r>
                        <a:rPr lang="en-US" sz="1600"/>
                        <a:t>3</a:t>
                      </a:r>
                      <a:endParaRPr sz="1600"/>
                    </a:p>
                  </a:txBody>
                  <a:tcPr marL="91450" marR="91450" marT="45725" marB="45725"/>
                </a:tc>
                <a:tc>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lang="en-US" sz="1600" dirty="0">
                          <a:sym typeface="+mn-ea"/>
                        </a:rPr>
                        <a:t>Estimate of Anemia with new Non-invasive systems a moment of reflection</a:t>
                      </a:r>
                      <a:endParaRPr lang="en-US" sz="1600" dirty="0"/>
                    </a:p>
                    <a:p>
                      <a:pPr marL="0" marR="0" lvl="0" indent="0" algn="just" rtl="0">
                        <a:spcBef>
                          <a:spcPts val="0"/>
                        </a:spcBef>
                        <a:spcAft>
                          <a:spcPts val="0"/>
                        </a:spcAft>
                        <a:buNone/>
                      </a:pPr>
                      <a:endParaRPr sz="1600" dirty="0"/>
                    </a:p>
                  </a:txBody>
                  <a:tcPr marL="91450" marR="91450" marT="45725" marB="45725"/>
                </a:tc>
                <a:tc>
                  <a:txBody>
                    <a:bodyPr/>
                    <a:lstStyle/>
                    <a:p>
                      <a:pPr algn="just"/>
                      <a:r>
                        <a:rPr lang="en-US" sz="1600" b="0" u="none" strike="noStrike" cap="none" dirty="0">
                          <a:solidFill>
                            <a:schemeClr val="dk1"/>
                          </a:solidFill>
                          <a:effectLst/>
                          <a:sym typeface="Arial"/>
                        </a:rPr>
                        <a:t>This paper reviews recent advancements in non-invasive techniques for anemia estimation. It discusses various optical methods and their effectiveness in measuring hemoglobin without blood tests.</a:t>
                      </a:r>
                    </a:p>
                    <a:p>
                      <a:br>
                        <a:rPr lang="en-US" sz="1600" b="0" dirty="0"/>
                      </a:br>
                      <a:endParaRPr sz="1600" b="0" dirty="0"/>
                    </a:p>
                  </a:txBody>
                  <a:tcPr marL="91450" marR="91450" marT="45725" marB="45725"/>
                </a:tc>
                <a:extLst>
                  <a:ext uri="{0D108BD9-81ED-4DB2-BD59-A6C34878D82A}">
                    <a16:rowId xmlns:a16="http://schemas.microsoft.com/office/drawing/2014/main" val="10003"/>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7"/>
          <p:cNvSpPr/>
          <p:nvPr/>
        </p:nvSpPr>
        <p:spPr>
          <a:xfrm>
            <a:off x="11320530" y="141668"/>
            <a:ext cx="643943" cy="6362163"/>
          </a:xfrm>
          <a:prstGeom prst="rect">
            <a:avLst/>
          </a:prstGeom>
          <a:solidFill>
            <a:srgbClr val="FF0000"/>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162" name="Google Shape;162;p7"/>
          <p:cNvPicPr preferRelativeResize="0"/>
          <p:nvPr/>
        </p:nvPicPr>
        <p:blipFill rotWithShape="1">
          <a:blip r:embed="rId3">
            <a:alphaModFix/>
          </a:blip>
          <a:srcRect/>
          <a:stretch/>
        </p:blipFill>
        <p:spPr>
          <a:xfrm>
            <a:off x="10299700" y="291370"/>
            <a:ext cx="892040" cy="892040"/>
          </a:xfrm>
          <a:prstGeom prst="rect">
            <a:avLst/>
          </a:prstGeom>
          <a:noFill/>
          <a:ln>
            <a:noFill/>
          </a:ln>
        </p:spPr>
      </p:pic>
      <p:sp>
        <p:nvSpPr>
          <p:cNvPr id="163" name="Google Shape;163;p7"/>
          <p:cNvSpPr/>
          <p:nvPr/>
        </p:nvSpPr>
        <p:spPr>
          <a:xfrm>
            <a:off x="0" y="6385420"/>
            <a:ext cx="4762500" cy="472580"/>
          </a:xfrm>
          <a:prstGeom prst="rect">
            <a:avLst/>
          </a:prstGeom>
          <a:solidFill>
            <a:srgbClr val="2E75B5"/>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lt1"/>
                </a:solidFill>
                <a:latin typeface="Arial"/>
                <a:ea typeface="Arial"/>
                <a:cs typeface="Arial"/>
                <a:sym typeface="Arial"/>
              </a:rPr>
              <a:t>Saintgits College of Engineering (Autonomous)</a:t>
            </a:r>
            <a:endParaRPr sz="1800" b="1">
              <a:solidFill>
                <a:schemeClr val="lt1"/>
              </a:solidFill>
              <a:latin typeface="Arial"/>
              <a:ea typeface="Arial"/>
              <a:cs typeface="Arial"/>
              <a:sym typeface="Arial"/>
            </a:endParaRPr>
          </a:p>
        </p:txBody>
      </p:sp>
      <p:sp>
        <p:nvSpPr>
          <p:cNvPr id="164" name="Google Shape;164;p7"/>
          <p:cNvSpPr txBox="1">
            <a:spLocks noGrp="1"/>
          </p:cNvSpPr>
          <p:nvPr>
            <p:ph type="title"/>
          </p:nvPr>
        </p:nvSpPr>
        <p:spPr>
          <a:xfrm>
            <a:off x="457200" y="365126"/>
            <a:ext cx="10896600" cy="891872"/>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Arial"/>
              <a:buNone/>
            </a:pPr>
            <a:r>
              <a:rPr lang="en-US" sz="4000" b="1" u="sng" dirty="0"/>
              <a:t>HARDWARE COMPONENTS</a:t>
            </a:r>
            <a:endParaRPr sz="4000" b="1" u="sng" dirty="0"/>
          </a:p>
        </p:txBody>
      </p:sp>
      <p:sp>
        <p:nvSpPr>
          <p:cNvPr id="165" name="Google Shape;165;p7"/>
          <p:cNvSpPr txBox="1">
            <a:spLocks noGrp="1"/>
          </p:cNvSpPr>
          <p:nvPr>
            <p:ph type="body" idx="1"/>
          </p:nvPr>
        </p:nvSpPr>
        <p:spPr>
          <a:xfrm>
            <a:off x="678468" y="2026941"/>
            <a:ext cx="5288280" cy="4881709"/>
          </a:xfrm>
          <a:prstGeom prst="rect">
            <a:avLst/>
          </a:prstGeom>
          <a:noFill/>
          <a:ln>
            <a:noFill/>
          </a:ln>
        </p:spPr>
        <p:txBody>
          <a:bodyPr spcFirstLastPara="1" wrap="square" lIns="91425" tIns="45700" rIns="91425" bIns="45700" anchor="t" anchorCtr="0">
            <a:normAutofit/>
          </a:bodyPr>
          <a:lstStyle/>
          <a:p>
            <a:r>
              <a:rPr lang="en-IN" dirty="0"/>
              <a:t>ESP32 Microcontroller</a:t>
            </a:r>
          </a:p>
          <a:p>
            <a:r>
              <a:rPr lang="en-IN" dirty="0"/>
              <a:t>MAX30102 Sensor</a:t>
            </a:r>
          </a:p>
          <a:p>
            <a:r>
              <a:rPr lang="en-IN" dirty="0"/>
              <a:t>OLED Display (SSD1306)</a:t>
            </a:r>
          </a:p>
          <a:p>
            <a:r>
              <a:rPr lang="en-IN" dirty="0"/>
              <a:t>Push Button</a:t>
            </a:r>
          </a:p>
          <a:p>
            <a:r>
              <a:rPr lang="en-IN" dirty="0"/>
              <a:t>USB Power Supply</a:t>
            </a:r>
          </a:p>
          <a:p>
            <a:pPr marL="114300" indent="0">
              <a:buNone/>
            </a:pPr>
            <a:endParaRPr dirty="0"/>
          </a:p>
        </p:txBody>
      </p:sp>
      <p:sp>
        <p:nvSpPr>
          <p:cNvPr id="166" name="Google Shape;166;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a:t>
            </a:fld>
            <a:endParaRPr/>
          </a:p>
        </p:txBody>
      </p:sp>
      <p:pic>
        <p:nvPicPr>
          <p:cNvPr id="3" name="Picture 2">
            <a:extLst>
              <a:ext uri="{FF2B5EF4-FFF2-40B4-BE49-F238E27FC236}">
                <a16:creationId xmlns:a16="http://schemas.microsoft.com/office/drawing/2014/main" id="{C5B14AB6-9A08-0114-1CE0-A8F42921F855}"/>
              </a:ext>
            </a:extLst>
          </p:cNvPr>
          <p:cNvPicPr>
            <a:picLocks noChangeAspect="1"/>
          </p:cNvPicPr>
          <p:nvPr/>
        </p:nvPicPr>
        <p:blipFill>
          <a:blip r:embed="rId4"/>
          <a:stretch>
            <a:fillRect/>
          </a:stretch>
        </p:blipFill>
        <p:spPr>
          <a:xfrm>
            <a:off x="6639233" y="1647379"/>
            <a:ext cx="3736718" cy="1976724"/>
          </a:xfrm>
          <a:prstGeom prst="rect">
            <a:avLst/>
          </a:prstGeom>
        </p:spPr>
      </p:pic>
      <p:sp>
        <p:nvSpPr>
          <p:cNvPr id="5" name="TextBox 4">
            <a:extLst>
              <a:ext uri="{FF2B5EF4-FFF2-40B4-BE49-F238E27FC236}">
                <a16:creationId xmlns:a16="http://schemas.microsoft.com/office/drawing/2014/main" id="{5E3E70CE-ABBC-3FEA-1E3C-40836688A5F7}"/>
              </a:ext>
            </a:extLst>
          </p:cNvPr>
          <p:cNvSpPr txBox="1"/>
          <p:nvPr/>
        </p:nvSpPr>
        <p:spPr>
          <a:xfrm>
            <a:off x="3048000" y="2749226"/>
            <a:ext cx="6096000" cy="738664"/>
          </a:xfrm>
          <a:prstGeom prst="rect">
            <a:avLst/>
          </a:prstGeom>
          <a:noFill/>
        </p:spPr>
        <p:txBody>
          <a:bodyPr wrap="square">
            <a:spAutoFit/>
          </a:bodyPr>
          <a:lstStyle/>
          <a:p>
            <a:pPr algn="l"/>
            <a:endParaRPr lang="en-IN" b="0" i="0" dirty="0">
              <a:solidFill>
                <a:srgbClr val="0D0D0D"/>
              </a:solidFill>
              <a:effectLst/>
              <a:latin typeface="ui-sans-serif"/>
            </a:endParaRPr>
          </a:p>
          <a:p>
            <a:pPr>
              <a:buNone/>
            </a:pPr>
            <a:br>
              <a:rPr lang="en-IN" dirty="0"/>
            </a:br>
            <a:endParaRPr lang="en-IN" dirty="0"/>
          </a:p>
        </p:txBody>
      </p:sp>
      <p:pic>
        <p:nvPicPr>
          <p:cNvPr id="9" name="Picture 8">
            <a:extLst>
              <a:ext uri="{FF2B5EF4-FFF2-40B4-BE49-F238E27FC236}">
                <a16:creationId xmlns:a16="http://schemas.microsoft.com/office/drawing/2014/main" id="{757815B4-949C-E7A8-0418-B4C777B6589A}"/>
              </a:ext>
            </a:extLst>
          </p:cNvPr>
          <p:cNvPicPr>
            <a:picLocks noChangeAspect="1"/>
          </p:cNvPicPr>
          <p:nvPr/>
        </p:nvPicPr>
        <p:blipFill>
          <a:blip r:embed="rId5"/>
          <a:stretch>
            <a:fillRect/>
          </a:stretch>
        </p:blipFill>
        <p:spPr>
          <a:xfrm>
            <a:off x="7363974" y="3268545"/>
            <a:ext cx="2818122" cy="291481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1"/>
          <p:cNvSpPr/>
          <p:nvPr/>
        </p:nvSpPr>
        <p:spPr>
          <a:xfrm>
            <a:off x="11320530" y="141668"/>
            <a:ext cx="643943" cy="6362163"/>
          </a:xfrm>
          <a:prstGeom prst="rect">
            <a:avLst/>
          </a:prstGeom>
          <a:solidFill>
            <a:srgbClr val="FF0000"/>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224" name="Google Shape;224;p11"/>
          <p:cNvPicPr preferRelativeResize="0"/>
          <p:nvPr/>
        </p:nvPicPr>
        <p:blipFill rotWithShape="1">
          <a:blip r:embed="rId3">
            <a:alphaModFix/>
          </a:blip>
          <a:srcRect/>
          <a:stretch/>
        </p:blipFill>
        <p:spPr>
          <a:xfrm>
            <a:off x="10299700" y="291370"/>
            <a:ext cx="892040" cy="892040"/>
          </a:xfrm>
          <a:prstGeom prst="rect">
            <a:avLst/>
          </a:prstGeom>
          <a:noFill/>
          <a:ln>
            <a:noFill/>
          </a:ln>
        </p:spPr>
      </p:pic>
      <p:sp>
        <p:nvSpPr>
          <p:cNvPr id="225" name="Google Shape;225;p11"/>
          <p:cNvSpPr/>
          <p:nvPr/>
        </p:nvSpPr>
        <p:spPr>
          <a:xfrm>
            <a:off x="0" y="6374271"/>
            <a:ext cx="4788310" cy="483729"/>
          </a:xfrm>
          <a:prstGeom prst="rect">
            <a:avLst/>
          </a:prstGeom>
          <a:solidFill>
            <a:srgbClr val="2E75B5"/>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dirty="0" err="1">
                <a:solidFill>
                  <a:schemeClr val="lt1"/>
                </a:solidFill>
                <a:latin typeface="Arial"/>
                <a:ea typeface="Arial"/>
                <a:cs typeface="Arial"/>
                <a:sym typeface="Arial"/>
              </a:rPr>
              <a:t>Saintgits</a:t>
            </a:r>
            <a:r>
              <a:rPr lang="en-US" sz="1800" b="1" dirty="0">
                <a:solidFill>
                  <a:schemeClr val="lt1"/>
                </a:solidFill>
                <a:latin typeface="Arial"/>
                <a:ea typeface="Arial"/>
                <a:cs typeface="Arial"/>
                <a:sym typeface="Arial"/>
              </a:rPr>
              <a:t> College of Engineering (Autonomous)</a:t>
            </a:r>
            <a:endParaRPr sz="1800" b="1" dirty="0">
              <a:solidFill>
                <a:schemeClr val="lt1"/>
              </a:solidFill>
              <a:latin typeface="Arial"/>
              <a:ea typeface="Arial"/>
              <a:cs typeface="Arial"/>
              <a:sym typeface="Arial"/>
            </a:endParaRPr>
          </a:p>
        </p:txBody>
      </p:sp>
      <p:sp>
        <p:nvSpPr>
          <p:cNvPr id="226" name="Google Shape;226;p11"/>
          <p:cNvSpPr txBox="1">
            <a:spLocks noGrp="1"/>
          </p:cNvSpPr>
          <p:nvPr>
            <p:ph type="title"/>
          </p:nvPr>
        </p:nvSpPr>
        <p:spPr>
          <a:xfrm>
            <a:off x="3182724" y="456098"/>
            <a:ext cx="4901381" cy="831635"/>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3600"/>
              <a:buFont typeface="Arial"/>
              <a:buNone/>
            </a:pPr>
            <a:r>
              <a:rPr lang="en-US" sz="4000" b="1" u="sng" dirty="0"/>
              <a:t>BLOCK DIAGRAM</a:t>
            </a:r>
            <a:endParaRPr sz="4000" b="1" u="sng" dirty="0"/>
          </a:p>
        </p:txBody>
      </p:sp>
      <p:sp>
        <p:nvSpPr>
          <p:cNvPr id="227" name="Google Shape;22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a:p>
        </p:txBody>
      </p:sp>
      <p:pic>
        <p:nvPicPr>
          <p:cNvPr id="4" name="Picture 3">
            <a:extLst>
              <a:ext uri="{FF2B5EF4-FFF2-40B4-BE49-F238E27FC236}">
                <a16:creationId xmlns:a16="http://schemas.microsoft.com/office/drawing/2014/main" id="{DA8E37BB-9B48-EEA2-B529-D25252DE2A69}"/>
              </a:ext>
            </a:extLst>
          </p:cNvPr>
          <p:cNvPicPr>
            <a:picLocks noChangeAspect="1"/>
          </p:cNvPicPr>
          <p:nvPr/>
        </p:nvPicPr>
        <p:blipFill>
          <a:blip r:embed="rId4"/>
          <a:srcRect l="1446" t="39857" r="1732" b="18136"/>
          <a:stretch>
            <a:fillRect/>
          </a:stretch>
        </p:blipFill>
        <p:spPr>
          <a:xfrm>
            <a:off x="628327" y="1287733"/>
            <a:ext cx="10010176" cy="428253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12"/>
          <p:cNvSpPr/>
          <p:nvPr/>
        </p:nvSpPr>
        <p:spPr>
          <a:xfrm>
            <a:off x="11320530" y="141668"/>
            <a:ext cx="643943" cy="6362163"/>
          </a:xfrm>
          <a:prstGeom prst="rect">
            <a:avLst/>
          </a:prstGeom>
          <a:solidFill>
            <a:srgbClr val="FF0000"/>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235" name="Google Shape;235;p12"/>
          <p:cNvPicPr preferRelativeResize="0"/>
          <p:nvPr/>
        </p:nvPicPr>
        <p:blipFill rotWithShape="1">
          <a:blip r:embed="rId3">
            <a:alphaModFix/>
          </a:blip>
          <a:srcRect/>
          <a:stretch/>
        </p:blipFill>
        <p:spPr>
          <a:xfrm>
            <a:off x="10299700" y="291370"/>
            <a:ext cx="892040" cy="892040"/>
          </a:xfrm>
          <a:prstGeom prst="rect">
            <a:avLst/>
          </a:prstGeom>
          <a:noFill/>
          <a:ln>
            <a:noFill/>
          </a:ln>
        </p:spPr>
      </p:pic>
      <p:sp>
        <p:nvSpPr>
          <p:cNvPr id="236" name="Google Shape;236;p12"/>
          <p:cNvSpPr/>
          <p:nvPr/>
        </p:nvSpPr>
        <p:spPr>
          <a:xfrm>
            <a:off x="1272" y="6326746"/>
            <a:ext cx="4718212" cy="531254"/>
          </a:xfrm>
          <a:prstGeom prst="rect">
            <a:avLst/>
          </a:prstGeom>
          <a:solidFill>
            <a:srgbClr val="2E75B5"/>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lt1"/>
                </a:solidFill>
                <a:latin typeface="Arial"/>
                <a:ea typeface="Arial"/>
                <a:cs typeface="Arial"/>
                <a:sym typeface="Arial"/>
              </a:rPr>
              <a:t>Saintgits College of Engineering (Autonomous)</a:t>
            </a:r>
            <a:endParaRPr sz="1800" b="1">
              <a:solidFill>
                <a:schemeClr val="lt1"/>
              </a:solidFill>
              <a:latin typeface="Arial"/>
              <a:ea typeface="Arial"/>
              <a:cs typeface="Arial"/>
              <a:sym typeface="Arial"/>
            </a:endParaRPr>
          </a:p>
        </p:txBody>
      </p:sp>
      <p:sp>
        <p:nvSpPr>
          <p:cNvPr id="237" name="Google Shape;237;p12"/>
          <p:cNvSpPr txBox="1">
            <a:spLocks noGrp="1"/>
          </p:cNvSpPr>
          <p:nvPr>
            <p:ph type="title"/>
          </p:nvPr>
        </p:nvSpPr>
        <p:spPr>
          <a:xfrm>
            <a:off x="457200" y="354169"/>
            <a:ext cx="10896600" cy="705438"/>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Arial"/>
              <a:buNone/>
            </a:pPr>
            <a:r>
              <a:rPr lang="en-US" sz="4000" b="1" u="sng"/>
              <a:t>WORKING PRICIPLE</a:t>
            </a:r>
            <a:endParaRPr lang="en-US" sz="4000" b="1" u="sng" dirty="0"/>
          </a:p>
        </p:txBody>
      </p:sp>
      <p:sp>
        <p:nvSpPr>
          <p:cNvPr id="238" name="Google Shape;238;p12"/>
          <p:cNvSpPr txBox="1">
            <a:spLocks noGrp="1"/>
          </p:cNvSpPr>
          <p:nvPr>
            <p:ph type="body" idx="1"/>
          </p:nvPr>
        </p:nvSpPr>
        <p:spPr>
          <a:xfrm>
            <a:off x="852948" y="1425677"/>
            <a:ext cx="7307825" cy="4615563"/>
          </a:xfrm>
          <a:prstGeom prst="rect">
            <a:avLst/>
          </a:prstGeom>
          <a:noFill/>
          <a:ln>
            <a:noFill/>
          </a:ln>
        </p:spPr>
        <p:txBody>
          <a:bodyPr spcFirstLastPara="1" wrap="square" lIns="91425" tIns="45700" rIns="91425" bIns="45700" anchor="t" anchorCtr="0">
            <a:normAutofit/>
          </a:bodyPr>
          <a:lstStyle/>
          <a:p>
            <a:r>
              <a:rPr lang="en-US"/>
              <a:t>Light is transmitted through finger</a:t>
            </a:r>
          </a:p>
          <a:p>
            <a:r>
              <a:rPr lang="en-US"/>
              <a:t>Hemoglobin absorbs light differently</a:t>
            </a:r>
          </a:p>
          <a:p>
            <a:r>
              <a:rPr lang="en-US"/>
              <a:t>Sensor measures:</a:t>
            </a:r>
          </a:p>
          <a:p>
            <a:pPr lvl="1"/>
            <a:r>
              <a:rPr lang="en-US"/>
              <a:t>Red light</a:t>
            </a:r>
          </a:p>
          <a:p>
            <a:pPr lvl="1"/>
            <a:r>
              <a:rPr lang="en-US"/>
              <a:t>Infrared light</a:t>
            </a:r>
          </a:p>
          <a:p>
            <a:r>
              <a:rPr lang="en-US"/>
              <a:t>Ratio is calculated</a:t>
            </a:r>
          </a:p>
          <a:p>
            <a:r>
              <a:rPr lang="en-US"/>
              <a:t>Ratio correlates with hemoglobin level</a:t>
            </a:r>
          </a:p>
          <a:p>
            <a:pPr marL="228600" lvl="0" indent="-76200" algn="l" rtl="0">
              <a:lnSpc>
                <a:spcPct val="90000"/>
              </a:lnSpc>
              <a:spcBef>
                <a:spcPts val="1000"/>
              </a:spcBef>
              <a:spcAft>
                <a:spcPts val="0"/>
              </a:spcAft>
              <a:buClr>
                <a:schemeClr val="dk1"/>
              </a:buClr>
              <a:buSzPts val="2400"/>
              <a:buNone/>
            </a:pPr>
            <a:endParaRPr lang="en-US" sz="2400" dirty="0"/>
          </a:p>
        </p:txBody>
      </p:sp>
      <p:sp>
        <p:nvSpPr>
          <p:cNvPr id="239" name="Google Shape;239;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mtClean="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9"/>
          <p:cNvSpPr/>
          <p:nvPr/>
        </p:nvSpPr>
        <p:spPr>
          <a:xfrm>
            <a:off x="11320530" y="141668"/>
            <a:ext cx="643943" cy="6362163"/>
          </a:xfrm>
          <a:prstGeom prst="rect">
            <a:avLst/>
          </a:prstGeom>
          <a:solidFill>
            <a:srgbClr val="FF0000"/>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193" name="Google Shape;193;p9"/>
          <p:cNvPicPr preferRelativeResize="0"/>
          <p:nvPr/>
        </p:nvPicPr>
        <p:blipFill rotWithShape="1">
          <a:blip r:embed="rId3">
            <a:alphaModFix/>
          </a:blip>
          <a:srcRect/>
          <a:stretch/>
        </p:blipFill>
        <p:spPr>
          <a:xfrm>
            <a:off x="10299700" y="291370"/>
            <a:ext cx="892040" cy="892040"/>
          </a:xfrm>
          <a:prstGeom prst="rect">
            <a:avLst/>
          </a:prstGeom>
          <a:noFill/>
          <a:ln>
            <a:noFill/>
          </a:ln>
        </p:spPr>
      </p:pic>
      <p:sp>
        <p:nvSpPr>
          <p:cNvPr id="194" name="Google Shape;194;p9"/>
          <p:cNvSpPr/>
          <p:nvPr/>
        </p:nvSpPr>
        <p:spPr>
          <a:xfrm>
            <a:off x="0" y="6367306"/>
            <a:ext cx="4739148" cy="490694"/>
          </a:xfrm>
          <a:prstGeom prst="rect">
            <a:avLst/>
          </a:prstGeom>
          <a:solidFill>
            <a:srgbClr val="2E75B5"/>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lt1"/>
                </a:solidFill>
                <a:latin typeface="Arial"/>
                <a:ea typeface="Arial"/>
                <a:cs typeface="Arial"/>
                <a:sym typeface="Arial"/>
              </a:rPr>
              <a:t>Saintgits College of Engineering (Autonomous)</a:t>
            </a:r>
            <a:endParaRPr sz="1800" b="1">
              <a:solidFill>
                <a:schemeClr val="lt1"/>
              </a:solidFill>
              <a:latin typeface="Arial"/>
              <a:ea typeface="Arial"/>
              <a:cs typeface="Arial"/>
              <a:sym typeface="Arial"/>
            </a:endParaRPr>
          </a:p>
        </p:txBody>
      </p:sp>
      <p:sp>
        <p:nvSpPr>
          <p:cNvPr id="195" name="Google Shape;195;p9"/>
          <p:cNvSpPr txBox="1">
            <a:spLocks noGrp="1"/>
          </p:cNvSpPr>
          <p:nvPr>
            <p:ph type="title"/>
          </p:nvPr>
        </p:nvSpPr>
        <p:spPr>
          <a:xfrm>
            <a:off x="0" y="359497"/>
            <a:ext cx="10896600" cy="1647825"/>
          </a:xfrm>
          <a:prstGeom prst="rect">
            <a:avLst/>
          </a:prstGeom>
          <a:noFill/>
          <a:ln>
            <a:noFill/>
          </a:ln>
        </p:spPr>
        <p:txBody>
          <a:bodyPr spcFirstLastPara="1" wrap="square" lIns="91425" tIns="45700" rIns="91425" bIns="45700" anchor="ctr" anchorCtr="0">
            <a:normAutofit fontScale="90000"/>
          </a:bodyPr>
          <a:lstStyle/>
          <a:p>
            <a:pPr algn="ctr"/>
            <a:r>
              <a:rPr lang="en-IN" b="1" u="sng" dirty="0"/>
              <a:t>ALGORITHM</a:t>
            </a:r>
            <a:br>
              <a:rPr lang="en-IN" b="1" u="sng" dirty="0"/>
            </a:br>
            <a:br>
              <a:rPr lang="en-IN" sz="4000" u="sng" dirty="0"/>
            </a:br>
            <a:endParaRPr sz="4000" b="1" u="sng" dirty="0"/>
          </a:p>
        </p:txBody>
      </p:sp>
      <p:sp>
        <p:nvSpPr>
          <p:cNvPr id="196" name="Google Shape;196;p9"/>
          <p:cNvSpPr txBox="1">
            <a:spLocks noGrp="1"/>
          </p:cNvSpPr>
          <p:nvPr>
            <p:ph type="body" idx="1"/>
          </p:nvPr>
        </p:nvSpPr>
        <p:spPr>
          <a:xfrm>
            <a:off x="755649" y="1370268"/>
            <a:ext cx="8807245" cy="4117463"/>
          </a:xfrm>
          <a:prstGeom prst="rect">
            <a:avLst/>
          </a:prstGeom>
          <a:noFill/>
          <a:ln>
            <a:noFill/>
          </a:ln>
        </p:spPr>
        <p:txBody>
          <a:bodyPr spcFirstLastPara="1" wrap="square" lIns="91425" tIns="45700" rIns="91425" bIns="45700" anchor="t" anchorCtr="0">
            <a:normAutofit/>
          </a:bodyPr>
          <a:lstStyle/>
          <a:p>
            <a:r>
              <a:rPr lang="en-US" dirty="0"/>
              <a:t>Collect Red &amp; IR sensor values for 7 secs</a:t>
            </a:r>
          </a:p>
          <a:p>
            <a:r>
              <a:rPr lang="en-US" dirty="0"/>
              <a:t>Average multiple readings</a:t>
            </a:r>
          </a:p>
          <a:p>
            <a:r>
              <a:rPr lang="en-US" dirty="0"/>
              <a:t>Compute ratio: </a:t>
            </a:r>
          </a:p>
          <a:p>
            <a:pPr marL="114300" indent="0">
              <a:buNone/>
            </a:pPr>
            <a:r>
              <a:rPr lang="en-US" b="1" dirty="0"/>
              <a:t>                            R = Red / IR</a:t>
            </a:r>
            <a:endParaRPr lang="en-US" dirty="0"/>
          </a:p>
          <a:p>
            <a:r>
              <a:rPr lang="en-US" dirty="0"/>
              <a:t>Use calibration formula for Hb estimation: </a:t>
            </a:r>
          </a:p>
          <a:p>
            <a:pPr marL="114300" indent="0">
              <a:buNone/>
            </a:pPr>
            <a:r>
              <a:rPr lang="en-US" dirty="0"/>
              <a:t>                      </a:t>
            </a:r>
            <a:r>
              <a:rPr lang="en-US" b="1" dirty="0"/>
              <a:t>Hb= -148.25 R + 120.98</a:t>
            </a:r>
            <a:endParaRPr lang="en-US" dirty="0"/>
          </a:p>
          <a:p>
            <a:r>
              <a:rPr lang="en-US" dirty="0"/>
              <a:t>Display result on OLED</a:t>
            </a:r>
            <a:br>
              <a:rPr lang="en-US" dirty="0"/>
            </a:br>
            <a:endParaRPr lang="en-US" dirty="0"/>
          </a:p>
        </p:txBody>
      </p:sp>
      <p:sp>
        <p:nvSpPr>
          <p:cNvPr id="197" name="Google Shape;197;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B80237-C3DB-83ED-E770-F0AEF282E8A8}"/>
              </a:ext>
            </a:extLst>
          </p:cNvPr>
          <p:cNvSpPr>
            <a:spLocks noGrp="1"/>
          </p:cNvSpPr>
          <p:nvPr>
            <p:ph type="title"/>
          </p:nvPr>
        </p:nvSpPr>
        <p:spPr>
          <a:xfrm>
            <a:off x="2774721" y="79292"/>
            <a:ext cx="5759651" cy="1233283"/>
          </a:xfrm>
        </p:spPr>
        <p:txBody>
          <a:bodyPr>
            <a:normAutofit/>
          </a:bodyPr>
          <a:lstStyle/>
          <a:p>
            <a:r>
              <a:rPr lang="en-US" sz="4000" b="1" u="sng" dirty="0"/>
              <a:t>CALIBRATION GRAPH</a:t>
            </a:r>
            <a:endParaRPr lang="en-IN" sz="4000" b="1" u="sng" dirty="0"/>
          </a:p>
        </p:txBody>
      </p:sp>
      <p:sp>
        <p:nvSpPr>
          <p:cNvPr id="4" name="Slide Number Placeholder 3">
            <a:extLst>
              <a:ext uri="{FF2B5EF4-FFF2-40B4-BE49-F238E27FC236}">
                <a16:creationId xmlns:a16="http://schemas.microsoft.com/office/drawing/2014/main" id="{752209CE-E92B-8DEE-1683-C0B72A06824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11</a:t>
            </a:fld>
            <a:endParaRPr lang="en-US"/>
          </a:p>
        </p:txBody>
      </p:sp>
      <p:pic>
        <p:nvPicPr>
          <p:cNvPr id="5" name="Picture 4">
            <a:extLst>
              <a:ext uri="{FF2B5EF4-FFF2-40B4-BE49-F238E27FC236}">
                <a16:creationId xmlns:a16="http://schemas.microsoft.com/office/drawing/2014/main" id="{49710CCC-9399-684D-A654-B652973661B6}"/>
              </a:ext>
            </a:extLst>
          </p:cNvPr>
          <p:cNvPicPr>
            <a:picLocks noChangeAspect="1"/>
          </p:cNvPicPr>
          <p:nvPr/>
        </p:nvPicPr>
        <p:blipFill>
          <a:blip r:embed="rId2"/>
          <a:stretch>
            <a:fillRect/>
          </a:stretch>
        </p:blipFill>
        <p:spPr>
          <a:xfrm>
            <a:off x="0" y="6257618"/>
            <a:ext cx="4730906" cy="774259"/>
          </a:xfrm>
          <a:prstGeom prst="rect">
            <a:avLst/>
          </a:prstGeom>
        </p:spPr>
      </p:pic>
      <p:pic>
        <p:nvPicPr>
          <p:cNvPr id="6" name="Picture 5">
            <a:extLst>
              <a:ext uri="{FF2B5EF4-FFF2-40B4-BE49-F238E27FC236}">
                <a16:creationId xmlns:a16="http://schemas.microsoft.com/office/drawing/2014/main" id="{E142BBE9-2C6B-E27D-68A9-4D2B9C3A444D}"/>
              </a:ext>
            </a:extLst>
          </p:cNvPr>
          <p:cNvPicPr>
            <a:picLocks noChangeAspect="1"/>
          </p:cNvPicPr>
          <p:nvPr/>
        </p:nvPicPr>
        <p:blipFill>
          <a:blip r:embed="rId3"/>
          <a:stretch>
            <a:fillRect/>
          </a:stretch>
        </p:blipFill>
        <p:spPr>
          <a:xfrm>
            <a:off x="11543407" y="0"/>
            <a:ext cx="658425" cy="6376969"/>
          </a:xfrm>
          <a:prstGeom prst="rect">
            <a:avLst/>
          </a:prstGeom>
        </p:spPr>
      </p:pic>
      <p:pic>
        <p:nvPicPr>
          <p:cNvPr id="7" name="Picture 6">
            <a:extLst>
              <a:ext uri="{FF2B5EF4-FFF2-40B4-BE49-F238E27FC236}">
                <a16:creationId xmlns:a16="http://schemas.microsoft.com/office/drawing/2014/main" id="{9C913740-BE6A-5B5E-FE84-57B37ED3F099}"/>
              </a:ext>
            </a:extLst>
          </p:cNvPr>
          <p:cNvPicPr>
            <a:picLocks noChangeAspect="1"/>
          </p:cNvPicPr>
          <p:nvPr/>
        </p:nvPicPr>
        <p:blipFill>
          <a:blip r:embed="rId4"/>
          <a:stretch>
            <a:fillRect/>
          </a:stretch>
        </p:blipFill>
        <p:spPr>
          <a:xfrm>
            <a:off x="10463707" y="185738"/>
            <a:ext cx="890093" cy="890093"/>
          </a:xfrm>
          <a:prstGeom prst="rect">
            <a:avLst/>
          </a:prstGeom>
        </p:spPr>
      </p:pic>
      <p:pic>
        <p:nvPicPr>
          <p:cNvPr id="9" name="Picture 8">
            <a:extLst>
              <a:ext uri="{FF2B5EF4-FFF2-40B4-BE49-F238E27FC236}">
                <a16:creationId xmlns:a16="http://schemas.microsoft.com/office/drawing/2014/main" id="{1F418501-7C4A-0BDF-6BF1-1964C21C537F}"/>
              </a:ext>
            </a:extLst>
          </p:cNvPr>
          <p:cNvPicPr>
            <a:picLocks noChangeAspect="1"/>
          </p:cNvPicPr>
          <p:nvPr/>
        </p:nvPicPr>
        <p:blipFill>
          <a:blip r:embed="rId5"/>
          <a:srcRect l="753" t="12129" r="1591" b="2370"/>
          <a:stretch>
            <a:fillRect/>
          </a:stretch>
        </p:blipFill>
        <p:spPr>
          <a:xfrm>
            <a:off x="1069675" y="1653551"/>
            <a:ext cx="9169745" cy="4149462"/>
          </a:xfrm>
          <a:prstGeom prst="rect">
            <a:avLst/>
          </a:prstGeom>
        </p:spPr>
      </p:pic>
      <p:sp>
        <p:nvSpPr>
          <p:cNvPr id="3" name="Rectangle 2">
            <a:extLst>
              <a:ext uri="{FF2B5EF4-FFF2-40B4-BE49-F238E27FC236}">
                <a16:creationId xmlns:a16="http://schemas.microsoft.com/office/drawing/2014/main" id="{352FBCCA-E9D6-FE7A-FA05-CB4961B37C38}"/>
              </a:ext>
            </a:extLst>
          </p:cNvPr>
          <p:cNvSpPr/>
          <p:nvPr/>
        </p:nvSpPr>
        <p:spPr>
          <a:xfrm>
            <a:off x="971909" y="1426234"/>
            <a:ext cx="9491798" cy="4577751"/>
          </a:xfrm>
          <a:prstGeom prst="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6561079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1">
          <a:extLst>
            <a:ext uri="{FF2B5EF4-FFF2-40B4-BE49-F238E27FC236}">
              <a16:creationId xmlns:a16="http://schemas.microsoft.com/office/drawing/2014/main" id="{7FF825A4-E98E-D3DA-2BB0-87CF728AB924}"/>
            </a:ext>
          </a:extLst>
        </p:cNvPr>
        <p:cNvGrpSpPr/>
        <p:nvPr/>
      </p:nvGrpSpPr>
      <p:grpSpPr>
        <a:xfrm>
          <a:off x="0" y="0"/>
          <a:ext cx="0" cy="0"/>
          <a:chOff x="0" y="0"/>
          <a:chExt cx="0" cy="0"/>
        </a:xfrm>
      </p:grpSpPr>
      <p:sp>
        <p:nvSpPr>
          <p:cNvPr id="192" name="Google Shape;192;p9">
            <a:extLst>
              <a:ext uri="{FF2B5EF4-FFF2-40B4-BE49-F238E27FC236}">
                <a16:creationId xmlns:a16="http://schemas.microsoft.com/office/drawing/2014/main" id="{FF6D134E-E144-209A-0EE7-A1450CB5865E}"/>
              </a:ext>
            </a:extLst>
          </p:cNvPr>
          <p:cNvSpPr/>
          <p:nvPr/>
        </p:nvSpPr>
        <p:spPr>
          <a:xfrm>
            <a:off x="11320530" y="141668"/>
            <a:ext cx="643943" cy="6362163"/>
          </a:xfrm>
          <a:prstGeom prst="rect">
            <a:avLst/>
          </a:prstGeom>
          <a:solidFill>
            <a:srgbClr val="FF0000"/>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193" name="Google Shape;193;p9">
            <a:extLst>
              <a:ext uri="{FF2B5EF4-FFF2-40B4-BE49-F238E27FC236}">
                <a16:creationId xmlns:a16="http://schemas.microsoft.com/office/drawing/2014/main" id="{A72A3C44-53AE-2343-47BE-0CFA82AB4EE6}"/>
              </a:ext>
            </a:extLst>
          </p:cNvPr>
          <p:cNvPicPr preferRelativeResize="0"/>
          <p:nvPr/>
        </p:nvPicPr>
        <p:blipFill rotWithShape="1">
          <a:blip r:embed="rId3">
            <a:alphaModFix/>
          </a:blip>
          <a:srcRect/>
          <a:stretch/>
        </p:blipFill>
        <p:spPr>
          <a:xfrm>
            <a:off x="10299700" y="291370"/>
            <a:ext cx="892040" cy="892040"/>
          </a:xfrm>
          <a:prstGeom prst="rect">
            <a:avLst/>
          </a:prstGeom>
          <a:noFill/>
          <a:ln>
            <a:noFill/>
          </a:ln>
        </p:spPr>
      </p:pic>
      <p:sp>
        <p:nvSpPr>
          <p:cNvPr id="194" name="Google Shape;194;p9">
            <a:extLst>
              <a:ext uri="{FF2B5EF4-FFF2-40B4-BE49-F238E27FC236}">
                <a16:creationId xmlns:a16="http://schemas.microsoft.com/office/drawing/2014/main" id="{8384D3D0-ABDF-C824-8D42-2EC6C8DB31E2}"/>
              </a:ext>
            </a:extLst>
          </p:cNvPr>
          <p:cNvSpPr/>
          <p:nvPr/>
        </p:nvSpPr>
        <p:spPr>
          <a:xfrm>
            <a:off x="0" y="6367306"/>
            <a:ext cx="4739148" cy="490694"/>
          </a:xfrm>
          <a:prstGeom prst="rect">
            <a:avLst/>
          </a:prstGeom>
          <a:solidFill>
            <a:srgbClr val="2E75B5"/>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lt1"/>
                </a:solidFill>
                <a:latin typeface="Arial"/>
                <a:ea typeface="Arial"/>
                <a:cs typeface="Arial"/>
                <a:sym typeface="Arial"/>
              </a:rPr>
              <a:t>Saintgits College of Engineering (Autonomous)</a:t>
            </a:r>
            <a:endParaRPr sz="1800" b="1">
              <a:solidFill>
                <a:schemeClr val="lt1"/>
              </a:solidFill>
              <a:latin typeface="Arial"/>
              <a:ea typeface="Arial"/>
              <a:cs typeface="Arial"/>
              <a:sym typeface="Arial"/>
            </a:endParaRPr>
          </a:p>
        </p:txBody>
      </p:sp>
      <p:sp>
        <p:nvSpPr>
          <p:cNvPr id="195" name="Google Shape;195;p9">
            <a:extLst>
              <a:ext uri="{FF2B5EF4-FFF2-40B4-BE49-F238E27FC236}">
                <a16:creationId xmlns:a16="http://schemas.microsoft.com/office/drawing/2014/main" id="{8B8BCC3A-8765-D807-8418-8C86ADBAC15B}"/>
              </a:ext>
            </a:extLst>
          </p:cNvPr>
          <p:cNvSpPr txBox="1">
            <a:spLocks noGrp="1"/>
          </p:cNvSpPr>
          <p:nvPr>
            <p:ph type="title"/>
          </p:nvPr>
        </p:nvSpPr>
        <p:spPr>
          <a:xfrm>
            <a:off x="1951704" y="409856"/>
            <a:ext cx="6415133" cy="892040"/>
          </a:xfrm>
          <a:prstGeom prst="rect">
            <a:avLst/>
          </a:prstGeom>
          <a:noFill/>
          <a:ln>
            <a:noFill/>
          </a:ln>
        </p:spPr>
        <p:txBody>
          <a:bodyPr spcFirstLastPara="1" wrap="square" lIns="91425" tIns="45700" rIns="91425" bIns="45700" anchor="ctr" anchorCtr="0">
            <a:normAutofit/>
          </a:bodyPr>
          <a:lstStyle/>
          <a:p>
            <a:pPr algn="ctr"/>
            <a:r>
              <a:rPr lang="en-IN" sz="3600" b="1" u="sng" dirty="0"/>
              <a:t>RESULTS</a:t>
            </a:r>
            <a:endParaRPr sz="3600" b="1" u="sng" dirty="0"/>
          </a:p>
        </p:txBody>
      </p:sp>
      <p:sp>
        <p:nvSpPr>
          <p:cNvPr id="196" name="Google Shape;196;p9">
            <a:extLst>
              <a:ext uri="{FF2B5EF4-FFF2-40B4-BE49-F238E27FC236}">
                <a16:creationId xmlns:a16="http://schemas.microsoft.com/office/drawing/2014/main" id="{D95B69BE-D61E-467C-1714-6869CAD47E20}"/>
              </a:ext>
            </a:extLst>
          </p:cNvPr>
          <p:cNvSpPr txBox="1">
            <a:spLocks noGrp="1"/>
          </p:cNvSpPr>
          <p:nvPr>
            <p:ph type="body" idx="1"/>
          </p:nvPr>
        </p:nvSpPr>
        <p:spPr>
          <a:xfrm>
            <a:off x="755649" y="1370268"/>
            <a:ext cx="8807245" cy="4117463"/>
          </a:xfrm>
          <a:prstGeom prst="rect">
            <a:avLst/>
          </a:prstGeom>
          <a:noFill/>
          <a:ln>
            <a:noFill/>
          </a:ln>
        </p:spPr>
        <p:txBody>
          <a:bodyPr spcFirstLastPara="1" wrap="square" lIns="91425" tIns="45700" rIns="91425" bIns="45700" anchor="t" anchorCtr="0">
            <a:normAutofit/>
          </a:bodyPr>
          <a:lstStyle/>
          <a:p>
            <a:pPr indent="-396000">
              <a:lnSpc>
                <a:spcPct val="100000"/>
              </a:lnSpc>
              <a:spcAft>
                <a:spcPts val="1200"/>
              </a:spcAft>
            </a:pPr>
            <a:r>
              <a:rPr lang="en-US" sz="2000" dirty="0"/>
              <a:t>The prototype successfully acquired the data from the finger placed on the sensor for the specified time 7 seconds for calculation of Hb level</a:t>
            </a:r>
          </a:p>
          <a:p>
            <a:pPr indent="-396000">
              <a:lnSpc>
                <a:spcPct val="100000"/>
              </a:lnSpc>
              <a:spcAft>
                <a:spcPts val="1200"/>
              </a:spcAft>
            </a:pPr>
            <a:r>
              <a:rPr lang="en-US" sz="2000" dirty="0"/>
              <a:t>Calculated the Hb levels based on the data i.e. amount of reflected red and infrared light captured by the MAX30102 sensor.</a:t>
            </a:r>
          </a:p>
          <a:p>
            <a:pPr indent="-396000">
              <a:lnSpc>
                <a:spcPct val="100000"/>
              </a:lnSpc>
              <a:spcAft>
                <a:spcPts val="1200"/>
              </a:spcAft>
            </a:pPr>
            <a:r>
              <a:rPr lang="en-US" sz="2000" dirty="0"/>
              <a:t>Showed the approximate Hb level of the individuals</a:t>
            </a:r>
          </a:p>
          <a:p>
            <a:pPr indent="-396000">
              <a:lnSpc>
                <a:spcPct val="100000"/>
              </a:lnSpc>
              <a:spcBef>
                <a:spcPts val="600"/>
              </a:spcBef>
            </a:pPr>
            <a:r>
              <a:rPr lang="en-US" sz="2000" dirty="0"/>
              <a:t>Classified the result as : Normal if Hb&gt;12g/dL</a:t>
            </a:r>
          </a:p>
          <a:p>
            <a:pPr marL="61200" indent="0">
              <a:lnSpc>
                <a:spcPct val="100000"/>
              </a:lnSpc>
              <a:spcBef>
                <a:spcPts val="600"/>
              </a:spcBef>
              <a:buNone/>
            </a:pPr>
            <a:r>
              <a:rPr lang="en-US" sz="2000" dirty="0"/>
              <a:t>                                              Mild </a:t>
            </a:r>
            <a:r>
              <a:rPr lang="en-US" sz="2000" dirty="0" err="1"/>
              <a:t>anaemia</a:t>
            </a:r>
            <a:r>
              <a:rPr lang="en-US" sz="2000" dirty="0"/>
              <a:t> if 10g/dL&lt;Hb&lt;12g/dL</a:t>
            </a:r>
          </a:p>
          <a:p>
            <a:pPr marL="61200" indent="0">
              <a:lnSpc>
                <a:spcPct val="100000"/>
              </a:lnSpc>
              <a:spcBef>
                <a:spcPts val="600"/>
              </a:spcBef>
              <a:buNone/>
            </a:pPr>
            <a:r>
              <a:rPr lang="en-US" sz="2000" dirty="0"/>
              <a:t>                                              </a:t>
            </a:r>
            <a:r>
              <a:rPr lang="en-US" sz="2000" dirty="0" err="1"/>
              <a:t>Anaemic</a:t>
            </a:r>
            <a:r>
              <a:rPr lang="en-US" sz="2000" dirty="0"/>
              <a:t> if Hb&lt; 10g/dL</a:t>
            </a:r>
          </a:p>
          <a:p>
            <a:endParaRPr lang="en-US" sz="2000" dirty="0"/>
          </a:p>
          <a:p>
            <a:endParaRPr lang="en-US" sz="2000" dirty="0"/>
          </a:p>
        </p:txBody>
      </p:sp>
      <p:sp>
        <p:nvSpPr>
          <p:cNvPr id="197" name="Google Shape;197;p9">
            <a:extLst>
              <a:ext uri="{FF2B5EF4-FFF2-40B4-BE49-F238E27FC236}">
                <a16:creationId xmlns:a16="http://schemas.microsoft.com/office/drawing/2014/main" id="{FE263E66-D2FC-20CF-3C93-2799587067E0}"/>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9087221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8"/>
          <p:cNvSpPr/>
          <p:nvPr/>
        </p:nvSpPr>
        <p:spPr>
          <a:xfrm>
            <a:off x="11320530" y="141668"/>
            <a:ext cx="643943" cy="6362163"/>
          </a:xfrm>
          <a:prstGeom prst="rect">
            <a:avLst/>
          </a:prstGeom>
          <a:solidFill>
            <a:srgbClr val="FF0000"/>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175" name="Google Shape;175;p8"/>
          <p:cNvPicPr preferRelativeResize="0"/>
          <p:nvPr/>
        </p:nvPicPr>
        <p:blipFill rotWithShape="1">
          <a:blip r:embed="rId3">
            <a:alphaModFix/>
          </a:blip>
          <a:srcRect/>
          <a:stretch/>
        </p:blipFill>
        <p:spPr>
          <a:xfrm>
            <a:off x="10299700" y="291370"/>
            <a:ext cx="892040" cy="892040"/>
          </a:xfrm>
          <a:prstGeom prst="rect">
            <a:avLst/>
          </a:prstGeom>
          <a:noFill/>
          <a:ln>
            <a:noFill/>
          </a:ln>
        </p:spPr>
      </p:pic>
      <p:sp>
        <p:nvSpPr>
          <p:cNvPr id="176" name="Google Shape;176;p8"/>
          <p:cNvSpPr/>
          <p:nvPr/>
        </p:nvSpPr>
        <p:spPr>
          <a:xfrm>
            <a:off x="-1" y="6395114"/>
            <a:ext cx="4686301" cy="462886"/>
          </a:xfrm>
          <a:prstGeom prst="rect">
            <a:avLst/>
          </a:prstGeom>
          <a:solidFill>
            <a:srgbClr val="2E75B5"/>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lt1"/>
                </a:solidFill>
                <a:latin typeface="Arial"/>
                <a:ea typeface="Arial"/>
                <a:cs typeface="Arial"/>
                <a:sym typeface="Arial"/>
              </a:rPr>
              <a:t>Saintgits College of Engineering (Autonomous)</a:t>
            </a:r>
            <a:endParaRPr sz="1800" b="1">
              <a:solidFill>
                <a:schemeClr val="lt1"/>
              </a:solidFill>
              <a:latin typeface="Arial"/>
              <a:ea typeface="Arial"/>
              <a:cs typeface="Arial"/>
              <a:sym typeface="Arial"/>
            </a:endParaRPr>
          </a:p>
        </p:txBody>
      </p:sp>
      <p:sp>
        <p:nvSpPr>
          <p:cNvPr id="177" name="Google Shape;177;p8"/>
          <p:cNvSpPr txBox="1">
            <a:spLocks noGrp="1"/>
          </p:cNvSpPr>
          <p:nvPr>
            <p:ph type="title"/>
          </p:nvPr>
        </p:nvSpPr>
        <p:spPr>
          <a:xfrm>
            <a:off x="457200" y="365126"/>
            <a:ext cx="10896600" cy="891872"/>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Arial"/>
              <a:buNone/>
            </a:pPr>
            <a:r>
              <a:rPr lang="en-US" sz="4000" b="1" u="sng" dirty="0"/>
              <a:t>THE FUNCTIONAL PROTOTYPE</a:t>
            </a:r>
            <a:endParaRPr sz="4000" b="1" u="sng" dirty="0"/>
          </a:p>
        </p:txBody>
      </p:sp>
      <p:pic>
        <p:nvPicPr>
          <p:cNvPr id="178" name="Google Shape;178;p8"/>
          <p:cNvPicPr preferRelativeResize="0">
            <a:picLocks noGrp="1"/>
          </p:cNvPicPr>
          <p:nvPr>
            <p:ph type="body" idx="1"/>
          </p:nvPr>
        </p:nvPicPr>
        <p:blipFill>
          <a:blip r:embed="rId4">
            <a:alphaModFix/>
          </a:blip>
          <a:srcRect l="10296" t="23245" r="6896" b="17435"/>
          <a:stretch>
            <a:fillRect/>
          </a:stretch>
        </p:blipFill>
        <p:spPr>
          <a:xfrm>
            <a:off x="7517109" y="3817645"/>
            <a:ext cx="2271597" cy="2316359"/>
          </a:xfrm>
          <a:prstGeom prst="rect">
            <a:avLst/>
          </a:prstGeom>
          <a:noFill/>
          <a:ln>
            <a:noFill/>
          </a:ln>
        </p:spPr>
      </p:pic>
      <p:sp>
        <p:nvSpPr>
          <p:cNvPr id="179" name="Google Shape;179;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a:t>
            </a:fld>
            <a:endParaRPr/>
          </a:p>
        </p:txBody>
      </p:sp>
      <p:pic>
        <p:nvPicPr>
          <p:cNvPr id="181" name="Google Shape;181;p8"/>
          <p:cNvPicPr preferRelativeResize="0"/>
          <p:nvPr/>
        </p:nvPicPr>
        <p:blipFill>
          <a:blip r:embed="rId5">
            <a:alphaModFix/>
          </a:blip>
          <a:srcRect/>
          <a:stretch/>
        </p:blipFill>
        <p:spPr>
          <a:xfrm>
            <a:off x="4162732" y="1170594"/>
            <a:ext cx="2730373" cy="2439684"/>
          </a:xfrm>
          <a:prstGeom prst="rect">
            <a:avLst/>
          </a:prstGeom>
          <a:noFill/>
          <a:ln>
            <a:noFill/>
          </a:ln>
        </p:spPr>
      </p:pic>
      <p:pic>
        <p:nvPicPr>
          <p:cNvPr id="183" name="Google Shape;183;p8"/>
          <p:cNvPicPr preferRelativeResize="0"/>
          <p:nvPr/>
        </p:nvPicPr>
        <p:blipFill>
          <a:blip r:embed="rId6">
            <a:alphaModFix/>
          </a:blip>
          <a:srcRect t="10717" b="28926"/>
          <a:stretch>
            <a:fillRect/>
          </a:stretch>
        </p:blipFill>
        <p:spPr>
          <a:xfrm>
            <a:off x="7476069" y="1170594"/>
            <a:ext cx="2312637" cy="2439684"/>
          </a:xfrm>
          <a:prstGeom prst="rect">
            <a:avLst/>
          </a:prstGeom>
          <a:noFill/>
          <a:ln>
            <a:noFill/>
          </a:ln>
        </p:spPr>
      </p:pic>
      <p:pic>
        <p:nvPicPr>
          <p:cNvPr id="185" name="Google Shape;185;p8"/>
          <p:cNvPicPr preferRelativeResize="0"/>
          <p:nvPr/>
        </p:nvPicPr>
        <p:blipFill>
          <a:blip r:embed="rId7">
            <a:alphaModFix/>
          </a:blip>
          <a:srcRect l="13553" t="23337" r="4232" b="21189"/>
          <a:stretch>
            <a:fillRect/>
          </a:stretch>
        </p:blipFill>
        <p:spPr>
          <a:xfrm>
            <a:off x="1299592" y="1170594"/>
            <a:ext cx="2157472" cy="2439684"/>
          </a:xfrm>
          <a:prstGeom prst="rect">
            <a:avLst/>
          </a:prstGeom>
          <a:noFill/>
          <a:ln>
            <a:noFill/>
          </a:ln>
        </p:spPr>
      </p:pic>
      <p:pic>
        <p:nvPicPr>
          <p:cNvPr id="186" name="Google Shape;186;p8"/>
          <p:cNvPicPr preferRelativeResize="0"/>
          <p:nvPr/>
        </p:nvPicPr>
        <p:blipFill>
          <a:blip r:embed="rId8">
            <a:alphaModFix/>
          </a:blip>
          <a:srcRect l="22595" t="39049" r="9886" b="30351"/>
          <a:stretch>
            <a:fillRect/>
          </a:stretch>
        </p:blipFill>
        <p:spPr>
          <a:xfrm>
            <a:off x="4162732" y="3817646"/>
            <a:ext cx="2730373" cy="2316359"/>
          </a:xfrm>
          <a:prstGeom prst="rect">
            <a:avLst/>
          </a:prstGeom>
          <a:noFill/>
          <a:ln>
            <a:noFill/>
          </a:ln>
        </p:spPr>
      </p:pic>
      <p:pic>
        <p:nvPicPr>
          <p:cNvPr id="3" name="Picture 2">
            <a:extLst>
              <a:ext uri="{FF2B5EF4-FFF2-40B4-BE49-F238E27FC236}">
                <a16:creationId xmlns:a16="http://schemas.microsoft.com/office/drawing/2014/main" id="{534C5EEE-6E00-F1F2-DC43-222C27E3FC5C}"/>
              </a:ext>
            </a:extLst>
          </p:cNvPr>
          <p:cNvPicPr>
            <a:picLocks noChangeAspect="1"/>
          </p:cNvPicPr>
          <p:nvPr/>
        </p:nvPicPr>
        <p:blipFill>
          <a:blip r:embed="rId9"/>
          <a:srcRect t="-401" b="24132"/>
          <a:stretch>
            <a:fillRect/>
          </a:stretch>
        </p:blipFill>
        <p:spPr>
          <a:xfrm>
            <a:off x="1299593" y="3816890"/>
            <a:ext cx="2157472" cy="231711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13"/>
          <p:cNvSpPr/>
          <p:nvPr/>
        </p:nvSpPr>
        <p:spPr>
          <a:xfrm>
            <a:off x="11320530" y="141668"/>
            <a:ext cx="643943" cy="6362163"/>
          </a:xfrm>
          <a:prstGeom prst="rect">
            <a:avLst/>
          </a:prstGeom>
          <a:solidFill>
            <a:srgbClr val="FF0000"/>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247" name="Google Shape;247;p13"/>
          <p:cNvPicPr preferRelativeResize="0"/>
          <p:nvPr/>
        </p:nvPicPr>
        <p:blipFill rotWithShape="1">
          <a:blip r:embed="rId3">
            <a:alphaModFix/>
          </a:blip>
          <a:srcRect/>
          <a:stretch/>
        </p:blipFill>
        <p:spPr>
          <a:xfrm>
            <a:off x="10299700" y="291370"/>
            <a:ext cx="892040" cy="892040"/>
          </a:xfrm>
          <a:prstGeom prst="rect">
            <a:avLst/>
          </a:prstGeom>
          <a:noFill/>
          <a:ln>
            <a:noFill/>
          </a:ln>
        </p:spPr>
      </p:pic>
      <p:sp>
        <p:nvSpPr>
          <p:cNvPr id="248" name="Google Shape;248;p13"/>
          <p:cNvSpPr/>
          <p:nvPr/>
        </p:nvSpPr>
        <p:spPr>
          <a:xfrm>
            <a:off x="-1" y="6367306"/>
            <a:ext cx="4758813" cy="490694"/>
          </a:xfrm>
          <a:prstGeom prst="rect">
            <a:avLst/>
          </a:prstGeom>
          <a:solidFill>
            <a:srgbClr val="2E75B5"/>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lt1"/>
                </a:solidFill>
                <a:latin typeface="Arial"/>
                <a:ea typeface="Arial"/>
                <a:cs typeface="Arial"/>
                <a:sym typeface="Arial"/>
              </a:rPr>
              <a:t>Saintgits College of Engineering (Autonomous)</a:t>
            </a:r>
            <a:endParaRPr sz="1800" b="1">
              <a:solidFill>
                <a:schemeClr val="lt1"/>
              </a:solidFill>
              <a:latin typeface="Arial"/>
              <a:ea typeface="Arial"/>
              <a:cs typeface="Arial"/>
              <a:sym typeface="Arial"/>
            </a:endParaRPr>
          </a:p>
        </p:txBody>
      </p:sp>
      <p:sp>
        <p:nvSpPr>
          <p:cNvPr id="249" name="Google Shape;249;p13"/>
          <p:cNvSpPr txBox="1">
            <a:spLocks noGrp="1"/>
          </p:cNvSpPr>
          <p:nvPr>
            <p:ph type="title"/>
          </p:nvPr>
        </p:nvSpPr>
        <p:spPr>
          <a:xfrm>
            <a:off x="400664" y="291538"/>
            <a:ext cx="10896600" cy="891872"/>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Arial"/>
              <a:buNone/>
            </a:pPr>
            <a:r>
              <a:rPr lang="en-US" sz="4000" b="1" u="sng" dirty="0"/>
              <a:t>FUTURE SCOPES</a:t>
            </a:r>
            <a:endParaRPr sz="4000" b="1" u="sng" dirty="0"/>
          </a:p>
        </p:txBody>
      </p:sp>
      <p:sp>
        <p:nvSpPr>
          <p:cNvPr id="250" name="Google Shape;250;p13"/>
          <p:cNvSpPr txBox="1">
            <a:spLocks noGrp="1"/>
          </p:cNvSpPr>
          <p:nvPr>
            <p:ph type="body" idx="1"/>
          </p:nvPr>
        </p:nvSpPr>
        <p:spPr>
          <a:xfrm>
            <a:off x="852947" y="1518819"/>
            <a:ext cx="9992033" cy="4151612"/>
          </a:xfrm>
          <a:prstGeom prst="rect">
            <a:avLst/>
          </a:prstGeom>
          <a:noFill/>
          <a:ln>
            <a:noFill/>
          </a:ln>
        </p:spPr>
        <p:txBody>
          <a:bodyPr spcFirstLastPara="1" wrap="square" lIns="91425" tIns="45700" rIns="91425" bIns="45700" anchor="t" anchorCtr="0">
            <a:normAutofit/>
          </a:bodyPr>
          <a:lstStyle/>
          <a:p>
            <a:pPr>
              <a:lnSpc>
                <a:spcPct val="100000"/>
              </a:lnSpc>
            </a:pPr>
            <a:r>
              <a:rPr lang="en-US" sz="2400" dirty="0"/>
              <a:t>Improve accuracy through clinical calibration with larger datasets from laboratory</a:t>
            </a:r>
          </a:p>
          <a:p>
            <a:pPr>
              <a:lnSpc>
                <a:spcPct val="100000"/>
              </a:lnSpc>
            </a:pPr>
            <a:r>
              <a:rPr lang="en-US" sz="2400" dirty="0"/>
              <a:t>Incorporate machine learning models for better Hb prediction</a:t>
            </a:r>
          </a:p>
          <a:p>
            <a:pPr>
              <a:lnSpc>
                <a:spcPct val="100000"/>
              </a:lnSpc>
            </a:pPr>
            <a:r>
              <a:rPr lang="en-US" sz="2400" dirty="0"/>
              <a:t>Introduce gender-based calibration (male/female separation) for improved precision</a:t>
            </a:r>
          </a:p>
          <a:p>
            <a:pPr>
              <a:lnSpc>
                <a:spcPct val="100000"/>
              </a:lnSpc>
            </a:pPr>
            <a:r>
              <a:rPr lang="en-US" sz="2400" dirty="0"/>
              <a:t>Enhance measurement using skin texture and skin tone analysis</a:t>
            </a:r>
          </a:p>
          <a:p>
            <a:pPr>
              <a:lnSpc>
                <a:spcPct val="100000"/>
              </a:lnSpc>
            </a:pPr>
            <a:r>
              <a:rPr lang="en-US" sz="2400" dirty="0"/>
              <a:t>Integrate color detection techniques to reduce signal variation</a:t>
            </a:r>
          </a:p>
          <a:p>
            <a:pPr>
              <a:lnSpc>
                <a:spcPct val="100000"/>
              </a:lnSpc>
            </a:pPr>
            <a:r>
              <a:rPr lang="en-US" sz="2400" dirty="0"/>
              <a:t>Develop a mobile application for real-time monitoring</a:t>
            </a:r>
          </a:p>
          <a:p>
            <a:pPr marL="114300" indent="0">
              <a:buNone/>
            </a:pPr>
            <a:endParaRPr sz="2400" dirty="0"/>
          </a:p>
        </p:txBody>
      </p:sp>
      <p:sp>
        <p:nvSpPr>
          <p:cNvPr id="251" name="Google Shape;251;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sp>
        <p:nvSpPr>
          <p:cNvPr id="279" name="Google Shape;279;p16"/>
          <p:cNvSpPr/>
          <p:nvPr/>
        </p:nvSpPr>
        <p:spPr>
          <a:xfrm>
            <a:off x="11320530" y="141668"/>
            <a:ext cx="643943" cy="6362163"/>
          </a:xfrm>
          <a:prstGeom prst="rect">
            <a:avLst/>
          </a:prstGeom>
          <a:solidFill>
            <a:srgbClr val="FF0000"/>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280" name="Google Shape;280;p16"/>
          <p:cNvPicPr preferRelativeResize="0"/>
          <p:nvPr/>
        </p:nvPicPr>
        <p:blipFill rotWithShape="1">
          <a:blip r:embed="rId3">
            <a:alphaModFix/>
          </a:blip>
          <a:srcRect/>
          <a:stretch/>
        </p:blipFill>
        <p:spPr>
          <a:xfrm>
            <a:off x="10299700" y="291370"/>
            <a:ext cx="892040" cy="892040"/>
          </a:xfrm>
          <a:prstGeom prst="rect">
            <a:avLst/>
          </a:prstGeom>
          <a:noFill/>
          <a:ln>
            <a:noFill/>
          </a:ln>
        </p:spPr>
      </p:pic>
      <p:sp>
        <p:nvSpPr>
          <p:cNvPr id="281" name="Google Shape;281;p16"/>
          <p:cNvSpPr/>
          <p:nvPr/>
        </p:nvSpPr>
        <p:spPr>
          <a:xfrm>
            <a:off x="-1" y="6367306"/>
            <a:ext cx="4748981" cy="490694"/>
          </a:xfrm>
          <a:prstGeom prst="rect">
            <a:avLst/>
          </a:prstGeom>
          <a:solidFill>
            <a:srgbClr val="2E75B5"/>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lt1"/>
                </a:solidFill>
                <a:latin typeface="Arial"/>
                <a:ea typeface="Arial"/>
                <a:cs typeface="Arial"/>
                <a:sym typeface="Arial"/>
              </a:rPr>
              <a:t>Saintgits College of Engineering (Autonomous)</a:t>
            </a:r>
            <a:endParaRPr sz="1800" b="1">
              <a:solidFill>
                <a:schemeClr val="lt1"/>
              </a:solidFill>
              <a:latin typeface="Arial"/>
              <a:ea typeface="Arial"/>
              <a:cs typeface="Arial"/>
              <a:sym typeface="Arial"/>
            </a:endParaRPr>
          </a:p>
        </p:txBody>
      </p:sp>
      <p:sp>
        <p:nvSpPr>
          <p:cNvPr id="282" name="Google Shape;282;p16"/>
          <p:cNvSpPr txBox="1">
            <a:spLocks noGrp="1"/>
          </p:cNvSpPr>
          <p:nvPr>
            <p:ph type="title"/>
          </p:nvPr>
        </p:nvSpPr>
        <p:spPr>
          <a:xfrm>
            <a:off x="1451780" y="2766218"/>
            <a:ext cx="9288439"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6600"/>
              <a:buFont typeface="Arial"/>
              <a:buNone/>
            </a:pPr>
            <a:r>
              <a:rPr lang="en-US" sz="6600" b="1" u="sng" dirty="0"/>
              <a:t>CONCLUSION</a:t>
            </a:r>
            <a:endParaRPr sz="6000" b="1" u="sng" dirty="0"/>
          </a:p>
        </p:txBody>
      </p:sp>
      <p:sp>
        <p:nvSpPr>
          <p:cNvPr id="283" name="Google Shape;283;p16"/>
          <p:cNvSpPr txBox="1">
            <a:spLocks noGrp="1"/>
          </p:cNvSpPr>
          <p:nvPr>
            <p:ph type="body" idx="1"/>
          </p:nvPr>
        </p:nvSpPr>
        <p:spPr>
          <a:xfrm>
            <a:off x="9797831" y="291370"/>
            <a:ext cx="501869" cy="574096"/>
          </a:xfrm>
          <a:prstGeom prst="rect">
            <a:avLst/>
          </a:prstGeom>
          <a:noFill/>
          <a:ln>
            <a:noFill/>
          </a:ln>
        </p:spPr>
        <p:txBody>
          <a:bodyPr spcFirstLastPara="1" wrap="square" lIns="91425" tIns="45700" rIns="91425" bIns="45700" anchor="t" anchorCtr="0">
            <a:normAutofit/>
          </a:bodyPr>
          <a:lstStyle/>
          <a:p>
            <a:pPr marL="0" lvl="0" indent="0" algn="just" rtl="0">
              <a:lnSpc>
                <a:spcPct val="90000"/>
              </a:lnSpc>
              <a:spcBef>
                <a:spcPts val="0"/>
              </a:spcBef>
              <a:spcAft>
                <a:spcPts val="0"/>
              </a:spcAft>
              <a:buClr>
                <a:schemeClr val="dk1"/>
              </a:buClr>
              <a:buSzPct val="100000"/>
              <a:buNone/>
            </a:pPr>
            <a:endParaRPr dirty="0"/>
          </a:p>
          <a:p>
            <a:pPr marL="0" lvl="0" indent="0" algn="just" rtl="0">
              <a:lnSpc>
                <a:spcPct val="90000"/>
              </a:lnSpc>
              <a:spcBef>
                <a:spcPts val="1000"/>
              </a:spcBef>
              <a:spcAft>
                <a:spcPts val="0"/>
              </a:spcAft>
              <a:buClr>
                <a:schemeClr val="dk1"/>
              </a:buClr>
              <a:buSzPct val="100000"/>
              <a:buNone/>
            </a:pPr>
            <a:endParaRPr dirty="0"/>
          </a:p>
        </p:txBody>
      </p:sp>
      <p:sp>
        <p:nvSpPr>
          <p:cNvPr id="284" name="Google Shape;284;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14"/>
          <p:cNvSpPr/>
          <p:nvPr/>
        </p:nvSpPr>
        <p:spPr>
          <a:xfrm>
            <a:off x="11320530" y="141668"/>
            <a:ext cx="643943" cy="6362163"/>
          </a:xfrm>
          <a:prstGeom prst="rect">
            <a:avLst/>
          </a:prstGeom>
          <a:solidFill>
            <a:srgbClr val="FF0000"/>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258" name="Google Shape;258;p14"/>
          <p:cNvPicPr preferRelativeResize="0"/>
          <p:nvPr/>
        </p:nvPicPr>
        <p:blipFill rotWithShape="1">
          <a:blip r:embed="rId3">
            <a:alphaModFix/>
          </a:blip>
          <a:srcRect/>
          <a:stretch/>
        </p:blipFill>
        <p:spPr>
          <a:xfrm>
            <a:off x="10299700" y="291370"/>
            <a:ext cx="892040" cy="892040"/>
          </a:xfrm>
          <a:prstGeom prst="rect">
            <a:avLst/>
          </a:prstGeom>
          <a:noFill/>
          <a:ln>
            <a:noFill/>
          </a:ln>
        </p:spPr>
      </p:pic>
      <p:sp>
        <p:nvSpPr>
          <p:cNvPr id="259" name="Google Shape;259;p14"/>
          <p:cNvSpPr/>
          <p:nvPr/>
        </p:nvSpPr>
        <p:spPr>
          <a:xfrm>
            <a:off x="-1" y="6367306"/>
            <a:ext cx="4758813" cy="564436"/>
          </a:xfrm>
          <a:prstGeom prst="rect">
            <a:avLst/>
          </a:prstGeom>
          <a:solidFill>
            <a:srgbClr val="2E75B5"/>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lt1"/>
                </a:solidFill>
                <a:latin typeface="Arial"/>
                <a:ea typeface="Arial"/>
                <a:cs typeface="Arial"/>
                <a:sym typeface="Arial"/>
              </a:rPr>
              <a:t>Saintgits College of Engineering (Autonomous)</a:t>
            </a:r>
            <a:endParaRPr sz="1800" b="1">
              <a:solidFill>
                <a:schemeClr val="lt1"/>
              </a:solidFill>
              <a:latin typeface="Arial"/>
              <a:ea typeface="Arial"/>
              <a:cs typeface="Arial"/>
              <a:sym typeface="Arial"/>
            </a:endParaRPr>
          </a:p>
        </p:txBody>
      </p:sp>
      <p:sp>
        <p:nvSpPr>
          <p:cNvPr id="260" name="Google Shape;260;p14"/>
          <p:cNvSpPr txBox="1">
            <a:spLocks noGrp="1"/>
          </p:cNvSpPr>
          <p:nvPr>
            <p:ph type="title"/>
          </p:nvPr>
        </p:nvSpPr>
        <p:spPr>
          <a:xfrm>
            <a:off x="340732" y="458584"/>
            <a:ext cx="10896600" cy="891872"/>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Arial"/>
              <a:buNone/>
            </a:pPr>
            <a:r>
              <a:rPr lang="en-US" sz="4000" b="1" u="sng" dirty="0"/>
              <a:t>ACKNOWLEDGMENTS</a:t>
            </a:r>
            <a:endParaRPr sz="4000" b="1" u="sng" dirty="0"/>
          </a:p>
        </p:txBody>
      </p:sp>
      <p:sp>
        <p:nvSpPr>
          <p:cNvPr id="261" name="Google Shape;261;p14"/>
          <p:cNvSpPr txBox="1">
            <a:spLocks noGrp="1"/>
          </p:cNvSpPr>
          <p:nvPr>
            <p:ph type="body" idx="1"/>
          </p:nvPr>
        </p:nvSpPr>
        <p:spPr>
          <a:xfrm>
            <a:off x="832345" y="1965674"/>
            <a:ext cx="9913375" cy="2543066"/>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dirty="0"/>
              <a:t>Dr. Shiny G -HOD-ECE &amp; AE</a:t>
            </a:r>
            <a:endParaRPr dirty="0"/>
          </a:p>
          <a:p>
            <a:pPr marL="228600" lvl="0" indent="-228600" algn="l" rtl="0">
              <a:lnSpc>
                <a:spcPct val="90000"/>
              </a:lnSpc>
              <a:spcBef>
                <a:spcPts val="1000"/>
              </a:spcBef>
              <a:spcAft>
                <a:spcPts val="0"/>
              </a:spcAft>
              <a:buClr>
                <a:schemeClr val="dk1"/>
              </a:buClr>
              <a:buSzPts val="2800"/>
              <a:buChar char="•"/>
            </a:pPr>
            <a:r>
              <a:rPr lang="en-US" dirty="0"/>
              <a:t>Er. Jyothish Chandran G- Assistant professor(Guide)</a:t>
            </a:r>
            <a:endParaRPr dirty="0"/>
          </a:p>
          <a:p>
            <a:pPr marL="228600" lvl="0" indent="-228600" algn="l" rtl="0">
              <a:lnSpc>
                <a:spcPct val="90000"/>
              </a:lnSpc>
              <a:spcBef>
                <a:spcPts val="1000"/>
              </a:spcBef>
              <a:spcAft>
                <a:spcPts val="0"/>
              </a:spcAft>
              <a:buClr>
                <a:schemeClr val="dk1"/>
              </a:buClr>
              <a:buSzPts val="2800"/>
              <a:buChar char="•"/>
            </a:pPr>
            <a:r>
              <a:rPr lang="en-US" dirty="0"/>
              <a:t>Er. Anish Thomas-Assistant professor(Project Coordinator)</a:t>
            </a:r>
            <a:endParaRPr lang="en-IN" dirty="0"/>
          </a:p>
          <a:p>
            <a:pPr marL="228600" lvl="0" indent="-228600" algn="l" rtl="0">
              <a:lnSpc>
                <a:spcPct val="90000"/>
              </a:lnSpc>
              <a:spcBef>
                <a:spcPts val="1000"/>
              </a:spcBef>
              <a:spcAft>
                <a:spcPts val="0"/>
              </a:spcAft>
              <a:buClr>
                <a:schemeClr val="dk1"/>
              </a:buClr>
              <a:buSzPts val="2800"/>
              <a:buChar char="•"/>
            </a:pPr>
            <a:r>
              <a:rPr lang="en-US" dirty="0"/>
              <a:t>Er. Melvin C Jose-Assistant professor(ECE)</a:t>
            </a:r>
            <a:endParaRPr dirty="0"/>
          </a:p>
          <a:p>
            <a:pPr marL="0" lvl="0" indent="0" algn="l" rtl="0">
              <a:lnSpc>
                <a:spcPct val="90000"/>
              </a:lnSpc>
              <a:spcBef>
                <a:spcPts val="1000"/>
              </a:spcBef>
              <a:spcAft>
                <a:spcPts val="0"/>
              </a:spcAft>
              <a:buClr>
                <a:schemeClr val="dk1"/>
              </a:buClr>
              <a:buSzPts val="2800"/>
              <a:buNone/>
            </a:pPr>
            <a:endParaRPr dirty="0"/>
          </a:p>
          <a:p>
            <a:pPr marL="228600" lvl="0" indent="-76200" algn="l" rtl="0">
              <a:lnSpc>
                <a:spcPct val="90000"/>
              </a:lnSpc>
              <a:spcBef>
                <a:spcPts val="1000"/>
              </a:spcBef>
              <a:spcAft>
                <a:spcPts val="0"/>
              </a:spcAft>
              <a:buClr>
                <a:schemeClr val="dk1"/>
              </a:buClr>
              <a:buSzPts val="2400"/>
              <a:buNone/>
            </a:pPr>
            <a:endParaRPr sz="2400" dirty="0"/>
          </a:p>
        </p:txBody>
      </p:sp>
      <p:sp>
        <p:nvSpPr>
          <p:cNvPr id="262" name="Google Shape;262;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15"/>
          <p:cNvSpPr/>
          <p:nvPr/>
        </p:nvSpPr>
        <p:spPr>
          <a:xfrm>
            <a:off x="11320530" y="141668"/>
            <a:ext cx="643943" cy="6362163"/>
          </a:xfrm>
          <a:prstGeom prst="rect">
            <a:avLst/>
          </a:prstGeom>
          <a:solidFill>
            <a:srgbClr val="FF0000"/>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269" name="Google Shape;269;p15"/>
          <p:cNvPicPr preferRelativeResize="0"/>
          <p:nvPr/>
        </p:nvPicPr>
        <p:blipFill rotWithShape="1">
          <a:blip r:embed="rId3">
            <a:alphaModFix/>
          </a:blip>
          <a:srcRect/>
          <a:stretch/>
        </p:blipFill>
        <p:spPr>
          <a:xfrm>
            <a:off x="10299700" y="291370"/>
            <a:ext cx="892040" cy="892040"/>
          </a:xfrm>
          <a:prstGeom prst="rect">
            <a:avLst/>
          </a:prstGeom>
          <a:noFill/>
          <a:ln>
            <a:noFill/>
          </a:ln>
        </p:spPr>
      </p:pic>
      <p:sp>
        <p:nvSpPr>
          <p:cNvPr id="270" name="Google Shape;270;p15"/>
          <p:cNvSpPr/>
          <p:nvPr/>
        </p:nvSpPr>
        <p:spPr>
          <a:xfrm>
            <a:off x="-1" y="6393013"/>
            <a:ext cx="4758813" cy="464987"/>
          </a:xfrm>
          <a:prstGeom prst="rect">
            <a:avLst/>
          </a:prstGeom>
          <a:solidFill>
            <a:srgbClr val="2E75B5"/>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lt1"/>
                </a:solidFill>
                <a:latin typeface="Arial"/>
                <a:ea typeface="Arial"/>
                <a:cs typeface="Arial"/>
                <a:sym typeface="Arial"/>
              </a:rPr>
              <a:t>Saintgits College of Engineering (Autonomous)</a:t>
            </a:r>
            <a:endParaRPr sz="1800" b="1">
              <a:solidFill>
                <a:schemeClr val="lt1"/>
              </a:solidFill>
              <a:latin typeface="Arial"/>
              <a:ea typeface="Arial"/>
              <a:cs typeface="Arial"/>
              <a:sym typeface="Arial"/>
            </a:endParaRPr>
          </a:p>
        </p:txBody>
      </p:sp>
      <p:sp>
        <p:nvSpPr>
          <p:cNvPr id="271" name="Google Shape;271;p15"/>
          <p:cNvSpPr txBox="1">
            <a:spLocks noGrp="1"/>
          </p:cNvSpPr>
          <p:nvPr>
            <p:ph type="title"/>
          </p:nvPr>
        </p:nvSpPr>
        <p:spPr>
          <a:xfrm>
            <a:off x="457200" y="167567"/>
            <a:ext cx="10896600" cy="891872"/>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Arial"/>
              <a:buNone/>
            </a:pPr>
            <a:r>
              <a:rPr lang="en-US" sz="4000" b="1" u="sng" dirty="0"/>
              <a:t>REFERENCES</a:t>
            </a:r>
            <a:endParaRPr sz="4000" b="1" u="sng" dirty="0"/>
          </a:p>
        </p:txBody>
      </p:sp>
      <p:sp>
        <p:nvSpPr>
          <p:cNvPr id="272" name="Google Shape;272;p15"/>
          <p:cNvSpPr txBox="1">
            <a:spLocks noGrp="1"/>
          </p:cNvSpPr>
          <p:nvPr>
            <p:ph type="body" idx="1"/>
          </p:nvPr>
        </p:nvSpPr>
        <p:spPr>
          <a:xfrm>
            <a:off x="852948" y="1268287"/>
            <a:ext cx="10338792" cy="4108923"/>
          </a:xfrm>
          <a:prstGeom prst="rect">
            <a:avLst/>
          </a:prstGeom>
          <a:noFill/>
          <a:ln>
            <a:noFill/>
          </a:ln>
        </p:spPr>
        <p:txBody>
          <a:bodyPr spcFirstLastPara="1" wrap="square" lIns="91425" tIns="45700" rIns="91425" bIns="45700" anchor="t" anchorCtr="0">
            <a:normAutofit/>
          </a:bodyPr>
          <a:lstStyle/>
          <a:p>
            <a:pPr>
              <a:buFont typeface="Wingdings" panose="05000000000000000000" pitchFamily="2" charset="2"/>
              <a:buChar char="§"/>
            </a:pPr>
            <a:r>
              <a:rPr lang="en-IN" sz="2200" dirty="0" err="1"/>
              <a:t>Chuchart</a:t>
            </a:r>
            <a:r>
              <a:rPr lang="en-IN" sz="2200" dirty="0"/>
              <a:t> </a:t>
            </a:r>
            <a:r>
              <a:rPr lang="en-IN" sz="2200" dirty="0" err="1"/>
              <a:t>Pintavirooj</a:t>
            </a:r>
            <a:r>
              <a:rPr lang="en-IN" sz="2200" dirty="0"/>
              <a:t>, </a:t>
            </a:r>
            <a:r>
              <a:rPr lang="en-IN" sz="2200" dirty="0" err="1"/>
              <a:t>Baorong</a:t>
            </a:r>
            <a:r>
              <a:rPr lang="en-IN" sz="2200" dirty="0"/>
              <a:t> Ni, et al.,</a:t>
            </a:r>
            <a:br>
              <a:rPr lang="en-IN" sz="2200" dirty="0"/>
            </a:br>
            <a:r>
              <a:rPr lang="en-IN" sz="2200" i="1" dirty="0"/>
              <a:t>“Non-invasive portable </a:t>
            </a:r>
            <a:r>
              <a:rPr lang="en-IN" sz="2200" i="1" dirty="0" err="1"/>
              <a:t>hemoglobin</a:t>
            </a:r>
            <a:r>
              <a:rPr lang="en-IN" sz="2200" i="1" dirty="0"/>
              <a:t> concentration monitoring system using optical sensor for </a:t>
            </a:r>
            <a:r>
              <a:rPr lang="en-IN" sz="2200" i="1" dirty="0" err="1"/>
              <a:t>anemia</a:t>
            </a:r>
            <a:r>
              <a:rPr lang="en-IN" sz="2200" i="1" dirty="0"/>
              <a:t> disease,”</a:t>
            </a:r>
            <a:r>
              <a:rPr lang="en-IN" sz="2200" dirty="0"/>
              <a:t> 2021.</a:t>
            </a:r>
          </a:p>
          <a:p>
            <a:pPr>
              <a:buFont typeface="Wingdings" panose="05000000000000000000" pitchFamily="2" charset="2"/>
              <a:buChar char="§"/>
            </a:pPr>
            <a:r>
              <a:rPr lang="en-IN" sz="2200" dirty="0"/>
              <a:t>P. </a:t>
            </a:r>
            <a:r>
              <a:rPr lang="en-IN" sz="2200" dirty="0" err="1"/>
              <a:t>Chamola</a:t>
            </a:r>
            <a:r>
              <a:rPr lang="en-IN" sz="2200" dirty="0"/>
              <a:t>, Poornima Mittal,</a:t>
            </a:r>
            <a:br>
              <a:rPr lang="en-IN" sz="2200" dirty="0"/>
            </a:br>
            <a:r>
              <a:rPr lang="en-IN" sz="2200" i="1" dirty="0"/>
              <a:t>“Non-invasive optical method for </a:t>
            </a:r>
            <a:r>
              <a:rPr lang="en-IN" sz="2200" i="1" dirty="0" err="1"/>
              <a:t>Anemia</a:t>
            </a:r>
            <a:r>
              <a:rPr lang="en-IN" sz="2200" i="1" dirty="0"/>
              <a:t> Detection,”</a:t>
            </a:r>
            <a:r>
              <a:rPr lang="en-IN" sz="2200" dirty="0"/>
              <a:t> 2023.</a:t>
            </a:r>
          </a:p>
          <a:p>
            <a:pPr>
              <a:buFont typeface="Wingdings" panose="05000000000000000000" pitchFamily="2" charset="2"/>
              <a:buChar char="§"/>
            </a:pPr>
            <a:r>
              <a:rPr lang="en-IN" sz="2200" dirty="0"/>
              <a:t>Giovanni </a:t>
            </a:r>
            <a:r>
              <a:rPr lang="en-IN" sz="2200" dirty="0" err="1"/>
              <a:t>Dimauro</a:t>
            </a:r>
            <a:r>
              <a:rPr lang="en-IN" sz="2200" dirty="0"/>
              <a:t>, Serena De Ruvo, et al.,</a:t>
            </a:r>
            <a:br>
              <a:rPr lang="en-IN" sz="2200" dirty="0"/>
            </a:br>
            <a:r>
              <a:rPr lang="en-IN" sz="2200" i="1" dirty="0"/>
              <a:t>“Estimate of </a:t>
            </a:r>
            <a:r>
              <a:rPr lang="en-IN" sz="2200" i="1" dirty="0" err="1"/>
              <a:t>Anemia</a:t>
            </a:r>
            <a:r>
              <a:rPr lang="en-IN" sz="2200" i="1" dirty="0"/>
              <a:t> with new Non-invasive systems: a moment of reflection.”</a:t>
            </a:r>
            <a:endParaRPr lang="en-IN" sz="2200" dirty="0"/>
          </a:p>
          <a:p>
            <a:pPr>
              <a:buFont typeface="Wingdings" panose="05000000000000000000" pitchFamily="2" charset="2"/>
              <a:buChar char="§"/>
            </a:pPr>
            <a:r>
              <a:rPr lang="en-IN" sz="2200" dirty="0"/>
              <a:t>MAX30102 Sensor Datasheet, Maxim Integrated.</a:t>
            </a:r>
          </a:p>
          <a:p>
            <a:pPr>
              <a:buFont typeface="Wingdings" panose="05000000000000000000" pitchFamily="2" charset="2"/>
              <a:buChar char="§"/>
            </a:pPr>
            <a:r>
              <a:rPr lang="en-IN" sz="2200" dirty="0"/>
              <a:t>Research articles on </a:t>
            </a:r>
            <a:r>
              <a:rPr lang="en-IN" sz="2200" b="1" dirty="0"/>
              <a:t>Near Infrared (NIR) Spectroscopy in biomedical applications</a:t>
            </a:r>
            <a:r>
              <a:rPr lang="en-IN" sz="2200" dirty="0"/>
              <a:t>.</a:t>
            </a:r>
          </a:p>
          <a:p>
            <a:pPr marL="114300" indent="0">
              <a:buNone/>
            </a:pPr>
            <a:endParaRPr sz="2400" dirty="0"/>
          </a:p>
        </p:txBody>
      </p:sp>
      <p:sp>
        <p:nvSpPr>
          <p:cNvPr id="273" name="Google Shape;273;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18"/>
          <p:cNvSpPr/>
          <p:nvPr/>
        </p:nvSpPr>
        <p:spPr>
          <a:xfrm>
            <a:off x="11320530" y="141668"/>
            <a:ext cx="643943" cy="6362163"/>
          </a:xfrm>
          <a:prstGeom prst="rect">
            <a:avLst/>
          </a:prstGeom>
          <a:solidFill>
            <a:srgbClr val="FF0000"/>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302" name="Google Shape;302;p18"/>
          <p:cNvPicPr preferRelativeResize="0"/>
          <p:nvPr/>
        </p:nvPicPr>
        <p:blipFill rotWithShape="1">
          <a:blip r:embed="rId3">
            <a:alphaModFix/>
          </a:blip>
          <a:srcRect/>
          <a:stretch/>
        </p:blipFill>
        <p:spPr>
          <a:xfrm>
            <a:off x="10299700" y="291370"/>
            <a:ext cx="892040" cy="892040"/>
          </a:xfrm>
          <a:prstGeom prst="rect">
            <a:avLst/>
          </a:prstGeom>
          <a:noFill/>
          <a:ln>
            <a:noFill/>
          </a:ln>
        </p:spPr>
      </p:pic>
      <p:sp>
        <p:nvSpPr>
          <p:cNvPr id="303" name="Google Shape;303;p18"/>
          <p:cNvSpPr/>
          <p:nvPr/>
        </p:nvSpPr>
        <p:spPr>
          <a:xfrm>
            <a:off x="0" y="6367306"/>
            <a:ext cx="4719484" cy="490694"/>
          </a:xfrm>
          <a:prstGeom prst="rect">
            <a:avLst/>
          </a:prstGeom>
          <a:solidFill>
            <a:srgbClr val="2E75B5"/>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lt1"/>
                </a:solidFill>
                <a:latin typeface="Arial"/>
                <a:ea typeface="Arial"/>
                <a:cs typeface="Arial"/>
                <a:sym typeface="Arial"/>
              </a:rPr>
              <a:t>Saintgits College of Engineering (Autonomous)</a:t>
            </a:r>
            <a:endParaRPr sz="1800" b="1">
              <a:solidFill>
                <a:schemeClr val="lt1"/>
              </a:solidFill>
              <a:latin typeface="Arial"/>
              <a:ea typeface="Arial"/>
              <a:cs typeface="Arial"/>
              <a:sym typeface="Arial"/>
            </a:endParaRPr>
          </a:p>
        </p:txBody>
      </p:sp>
      <p:sp>
        <p:nvSpPr>
          <p:cNvPr id="304" name="Google Shape;304;p18"/>
          <p:cNvSpPr txBox="1">
            <a:spLocks noGrp="1"/>
          </p:cNvSpPr>
          <p:nvPr>
            <p:ph type="title"/>
          </p:nvPr>
        </p:nvSpPr>
        <p:spPr>
          <a:xfrm>
            <a:off x="1457281" y="2659967"/>
            <a:ext cx="9288439"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6600"/>
              <a:buFont typeface="Arial"/>
              <a:buNone/>
            </a:pPr>
            <a:r>
              <a:rPr lang="en-US" sz="6600" b="1" u="sng"/>
              <a:t>THANK YOU</a:t>
            </a:r>
            <a:endParaRPr sz="6000" b="1" u="sng"/>
          </a:p>
        </p:txBody>
      </p:sp>
      <p:sp>
        <p:nvSpPr>
          <p:cNvPr id="305" name="Google Shape;305;p18"/>
          <p:cNvSpPr txBox="1">
            <a:spLocks noGrp="1"/>
          </p:cNvSpPr>
          <p:nvPr>
            <p:ph type="body" idx="1"/>
          </p:nvPr>
        </p:nvSpPr>
        <p:spPr>
          <a:xfrm>
            <a:off x="9797831" y="291370"/>
            <a:ext cx="501869" cy="574096"/>
          </a:xfrm>
          <a:prstGeom prst="rect">
            <a:avLst/>
          </a:prstGeom>
          <a:noFill/>
          <a:ln>
            <a:noFill/>
          </a:ln>
        </p:spPr>
        <p:txBody>
          <a:bodyPr spcFirstLastPara="1" wrap="square" lIns="91425" tIns="45700" rIns="91425" bIns="45700" anchor="t" anchorCtr="0">
            <a:normAutofit fontScale="55000" lnSpcReduction="20000"/>
          </a:bodyPr>
          <a:lstStyle/>
          <a:p>
            <a:pPr marL="0" lvl="0" indent="0" algn="just" rtl="0">
              <a:lnSpc>
                <a:spcPct val="90000"/>
              </a:lnSpc>
              <a:spcBef>
                <a:spcPts val="0"/>
              </a:spcBef>
              <a:spcAft>
                <a:spcPts val="0"/>
              </a:spcAft>
              <a:buClr>
                <a:schemeClr val="dk1"/>
              </a:buClr>
              <a:buSzPct val="100000"/>
              <a:buNone/>
            </a:pPr>
            <a:endParaRPr/>
          </a:p>
          <a:p>
            <a:pPr marL="0" lvl="0" indent="0" algn="just" rtl="0">
              <a:lnSpc>
                <a:spcPct val="90000"/>
              </a:lnSpc>
              <a:spcBef>
                <a:spcPts val="1000"/>
              </a:spcBef>
              <a:spcAft>
                <a:spcPts val="0"/>
              </a:spcAft>
              <a:buClr>
                <a:schemeClr val="dk1"/>
              </a:buClr>
              <a:buSzPct val="100000"/>
              <a:buNone/>
            </a:pPr>
            <a:r>
              <a:rPr lang="en-US"/>
              <a:t>1</a:t>
            </a:r>
            <a:endParaRPr/>
          </a:p>
        </p:txBody>
      </p:sp>
      <p:sp>
        <p:nvSpPr>
          <p:cNvPr id="306" name="Google Shape;306;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668</TotalTime>
  <Words>880</Words>
  <Application>Microsoft Office PowerPoint</Application>
  <PresentationFormat>Widescreen</PresentationFormat>
  <Paragraphs>170</Paragraphs>
  <Slides>18</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ui-sans-serif</vt:lpstr>
      <vt:lpstr>Wingdings</vt:lpstr>
      <vt:lpstr>Office Theme</vt:lpstr>
      <vt:lpstr>PowerPoint Presentation</vt:lpstr>
      <vt:lpstr>CONTENTS</vt:lpstr>
      <vt:lpstr>INTRODUCTION</vt:lpstr>
      <vt:lpstr>INITIAL SCOPE OF WORKS</vt:lpstr>
      <vt:lpstr>CHANGES IN PLAN</vt:lpstr>
      <vt:lpstr>LITERATURE SURVEY</vt:lpstr>
      <vt:lpstr>HARDWARE COMPONENTS</vt:lpstr>
      <vt:lpstr>BLOCK DIAGRAM</vt:lpstr>
      <vt:lpstr>WORKING PRICIPLE</vt:lpstr>
      <vt:lpstr>ALGORITHM  </vt:lpstr>
      <vt:lpstr>CALIBRATION GRAPH</vt:lpstr>
      <vt:lpstr>RESULTS</vt:lpstr>
      <vt:lpstr>THE FUNCTIONAL PROTOTYPE</vt:lpstr>
      <vt:lpstr>FUTURE SCOPES</vt:lpstr>
      <vt:lpstr>CONCLUSION</vt:lpstr>
      <vt:lpstr>ACKNOWLEDGMENTS</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user</dc:creator>
  <cp:lastModifiedBy>Anil Gopinath (अनिल गोपीनाथ)</cp:lastModifiedBy>
  <cp:revision>50</cp:revision>
  <dcterms:created xsi:type="dcterms:W3CDTF">2017-05-30T16:01:16Z</dcterms:created>
  <dcterms:modified xsi:type="dcterms:W3CDTF">2026-05-08T05:45:43Z</dcterms:modified>
</cp:coreProperties>
</file>